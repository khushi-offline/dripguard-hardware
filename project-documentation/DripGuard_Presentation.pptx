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18768" y="488372"/>
            <a:ext cx="899856" cy="98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2952" y="3374818"/>
            <a:ext cx="8166734" cy="4382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hyperlink" Target="http://localhost:5000/" TargetMode="External"/><Relationship Id="rId5" Type="http://schemas.openxmlformats.org/officeDocument/2006/relationships/hyperlink" Target="http://localhost:8501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981449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1305" y="0"/>
            <a:ext cx="5906693" cy="1028614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872058" y="2104739"/>
            <a:ext cx="13489940" cy="2926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890905" marR="709930" indent="-173355">
              <a:lnSpc>
                <a:spcPct val="116399"/>
              </a:lnSpc>
              <a:spcBef>
                <a:spcPts val="95"/>
              </a:spcBef>
            </a:pPr>
            <a:r>
              <a:rPr dirty="0" sz="5450" spc="90" b="1">
                <a:latin typeface="Times New Roman"/>
                <a:cs typeface="Times New Roman"/>
              </a:rPr>
              <a:t>CAPSTONE</a:t>
            </a:r>
            <a:r>
              <a:rPr dirty="0" sz="5450" spc="30" b="1">
                <a:latin typeface="Times New Roman"/>
                <a:cs typeface="Times New Roman"/>
              </a:rPr>
              <a:t> </a:t>
            </a:r>
            <a:r>
              <a:rPr dirty="0" sz="5450" spc="65" b="1">
                <a:latin typeface="Times New Roman"/>
                <a:cs typeface="Times New Roman"/>
              </a:rPr>
              <a:t>PROJECT</a:t>
            </a:r>
            <a:r>
              <a:rPr dirty="0" sz="5450" spc="35" b="1">
                <a:latin typeface="Times New Roman"/>
                <a:cs typeface="Times New Roman"/>
              </a:rPr>
              <a:t> </a:t>
            </a:r>
            <a:r>
              <a:rPr dirty="0" sz="5450" spc="215" b="1">
                <a:latin typeface="Times New Roman"/>
                <a:cs typeface="Times New Roman"/>
              </a:rPr>
              <a:t>ON </a:t>
            </a:r>
            <a:r>
              <a:rPr dirty="0" sz="5450" b="1">
                <a:latin typeface="Times New Roman"/>
                <a:cs typeface="Times New Roman"/>
              </a:rPr>
              <a:t>DRIPGUARD:</a:t>
            </a:r>
            <a:r>
              <a:rPr dirty="0" sz="5450" spc="55" b="1">
                <a:latin typeface="Times New Roman"/>
                <a:cs typeface="Times New Roman"/>
              </a:rPr>
              <a:t> </a:t>
            </a:r>
            <a:r>
              <a:rPr dirty="0" sz="5450" b="1">
                <a:latin typeface="Times New Roman"/>
                <a:cs typeface="Times New Roman"/>
              </a:rPr>
              <a:t>SMART</a:t>
            </a:r>
            <a:r>
              <a:rPr dirty="0" sz="5450" spc="55" b="1">
                <a:latin typeface="Times New Roman"/>
                <a:cs typeface="Times New Roman"/>
              </a:rPr>
              <a:t> </a:t>
            </a:r>
            <a:r>
              <a:rPr dirty="0" sz="5450" b="1">
                <a:latin typeface="Times New Roman"/>
                <a:cs typeface="Times New Roman"/>
              </a:rPr>
              <a:t>IV</a:t>
            </a:r>
            <a:r>
              <a:rPr dirty="0" sz="5450" spc="55" b="1">
                <a:latin typeface="Times New Roman"/>
                <a:cs typeface="Times New Roman"/>
              </a:rPr>
              <a:t> </a:t>
            </a:r>
            <a:r>
              <a:rPr dirty="0" sz="5450" spc="125" b="1">
                <a:latin typeface="Times New Roman"/>
                <a:cs typeface="Times New Roman"/>
              </a:rPr>
              <a:t>INFUSION</a:t>
            </a:r>
            <a:endParaRPr sz="5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dirty="0" sz="5450" spc="75" b="1">
                <a:latin typeface="Times New Roman"/>
                <a:cs typeface="Times New Roman"/>
              </a:rPr>
              <a:t>MONITORING</a:t>
            </a:r>
            <a:r>
              <a:rPr dirty="0" sz="5450" spc="15" b="1">
                <a:latin typeface="Times New Roman"/>
                <a:cs typeface="Times New Roman"/>
              </a:rPr>
              <a:t> </a:t>
            </a:r>
            <a:r>
              <a:rPr dirty="0" sz="5450" spc="-365" b="1">
                <a:latin typeface="Times New Roman"/>
                <a:cs typeface="Times New Roman"/>
              </a:rPr>
              <a:t>&amp;</a:t>
            </a:r>
            <a:r>
              <a:rPr dirty="0" sz="5450" spc="15" b="1">
                <a:latin typeface="Times New Roman"/>
                <a:cs typeface="Times New Roman"/>
              </a:rPr>
              <a:t> </a:t>
            </a:r>
            <a:r>
              <a:rPr dirty="0" sz="5450" spc="80" b="1">
                <a:latin typeface="Times New Roman"/>
                <a:cs typeface="Times New Roman"/>
              </a:rPr>
              <a:t>PREDICTION</a:t>
            </a:r>
            <a:r>
              <a:rPr dirty="0" sz="5450" spc="15" b="1">
                <a:latin typeface="Times New Roman"/>
                <a:cs typeface="Times New Roman"/>
              </a:rPr>
              <a:t> </a:t>
            </a:r>
            <a:r>
              <a:rPr dirty="0" sz="5450" spc="100" b="1">
                <a:latin typeface="Times New Roman"/>
                <a:cs typeface="Times New Roman"/>
              </a:rPr>
              <a:t>SYSTEM</a:t>
            </a:r>
            <a:endParaRPr sz="5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2064" y="5524463"/>
            <a:ext cx="435165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70">
                <a:latin typeface="Open Sans"/>
                <a:cs typeface="Open Sans"/>
              </a:rPr>
              <a:t>Software</a:t>
            </a:r>
            <a:r>
              <a:rPr dirty="0" sz="3400" spc="-45">
                <a:latin typeface="Open Sans"/>
                <a:cs typeface="Open Sans"/>
              </a:rPr>
              <a:t> </a:t>
            </a:r>
            <a:r>
              <a:rPr dirty="0" sz="3400" spc="-195">
                <a:latin typeface="Open Sans"/>
                <a:cs typeface="Open Sans"/>
              </a:rPr>
              <a:t>+</a:t>
            </a:r>
            <a:r>
              <a:rPr dirty="0" sz="3400" spc="-40">
                <a:latin typeface="Open Sans"/>
                <a:cs typeface="Open Sans"/>
              </a:rPr>
              <a:t> </a:t>
            </a:r>
            <a:r>
              <a:rPr dirty="0" sz="3400" spc="-10">
                <a:latin typeface="Open Sans"/>
                <a:cs typeface="Open Sans"/>
              </a:rPr>
              <a:t>Hardware</a:t>
            </a:r>
            <a:endParaRPr sz="3400">
              <a:latin typeface="Open Sans"/>
              <a:cs typeface="Open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86930" y="7254881"/>
            <a:ext cx="2159000" cy="518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200" spc="-210">
                <a:latin typeface="Book Antiqua"/>
                <a:cs typeface="Book Antiqua"/>
              </a:rPr>
              <a:t>Presented</a:t>
            </a:r>
            <a:r>
              <a:rPr dirty="0" sz="3200" spc="25">
                <a:latin typeface="Book Antiqua"/>
                <a:cs typeface="Book Antiqua"/>
              </a:rPr>
              <a:t> </a:t>
            </a:r>
            <a:r>
              <a:rPr dirty="0" sz="3200" spc="-165">
                <a:latin typeface="Book Antiqua"/>
                <a:cs typeface="Book Antiqua"/>
              </a:rPr>
              <a:t>by:</a:t>
            </a:r>
            <a:endParaRPr sz="32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6910" y="7176586"/>
            <a:ext cx="3308985" cy="1739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7785">
              <a:lnSpc>
                <a:spcPct val="117200"/>
              </a:lnSpc>
              <a:spcBef>
                <a:spcPts val="90"/>
              </a:spcBef>
            </a:pPr>
            <a:r>
              <a:rPr dirty="0" sz="3200" spc="-195">
                <a:latin typeface="Book Antiqua"/>
                <a:cs typeface="Book Antiqua"/>
              </a:rPr>
              <a:t>Swati</a:t>
            </a:r>
            <a:r>
              <a:rPr dirty="0" sz="3200" spc="-30">
                <a:latin typeface="Book Antiqua"/>
                <a:cs typeface="Book Antiqua"/>
              </a:rPr>
              <a:t> </a:t>
            </a:r>
            <a:r>
              <a:rPr dirty="0" sz="3200" spc="-215">
                <a:latin typeface="Book Antiqua"/>
                <a:cs typeface="Book Antiqua"/>
              </a:rPr>
              <a:t>Mahto</a:t>
            </a:r>
            <a:r>
              <a:rPr dirty="0" sz="3200" spc="-25">
                <a:latin typeface="Book Antiqua"/>
                <a:cs typeface="Book Antiqua"/>
              </a:rPr>
              <a:t> </a:t>
            </a:r>
            <a:r>
              <a:rPr dirty="0" sz="3200">
                <a:latin typeface="Book Antiqua"/>
                <a:cs typeface="Book Antiqua"/>
              </a:rPr>
              <a:t>-</a:t>
            </a:r>
            <a:r>
              <a:rPr dirty="0" sz="3200" spc="-25">
                <a:latin typeface="Book Antiqua"/>
                <a:cs typeface="Book Antiqua"/>
              </a:rPr>
              <a:t> </a:t>
            </a:r>
            <a:r>
              <a:rPr dirty="0" sz="3200" spc="-335">
                <a:latin typeface="Book Antiqua"/>
                <a:cs typeface="Book Antiqua"/>
              </a:rPr>
              <a:t>22 </a:t>
            </a:r>
            <a:r>
              <a:rPr dirty="0" sz="3200" spc="-250">
                <a:latin typeface="Book Antiqua"/>
                <a:cs typeface="Book Antiqua"/>
              </a:rPr>
              <a:t>Khushi</a:t>
            </a:r>
            <a:r>
              <a:rPr dirty="0" sz="3200" spc="-45">
                <a:latin typeface="Book Antiqua"/>
                <a:cs typeface="Book Antiqua"/>
              </a:rPr>
              <a:t> </a:t>
            </a:r>
            <a:r>
              <a:rPr dirty="0" sz="3200" spc="-110">
                <a:latin typeface="Book Antiqua"/>
                <a:cs typeface="Book Antiqua"/>
              </a:rPr>
              <a:t>Patil</a:t>
            </a:r>
            <a:r>
              <a:rPr dirty="0" sz="3200" spc="-55">
                <a:latin typeface="Book Antiqua"/>
                <a:cs typeface="Book Antiqua"/>
              </a:rPr>
              <a:t> </a:t>
            </a:r>
            <a:r>
              <a:rPr dirty="0" sz="3200">
                <a:latin typeface="Book Antiqua"/>
                <a:cs typeface="Book Antiqua"/>
              </a:rPr>
              <a:t>-</a:t>
            </a:r>
            <a:r>
              <a:rPr dirty="0" sz="3200" spc="-50">
                <a:latin typeface="Book Antiqua"/>
                <a:cs typeface="Book Antiqua"/>
              </a:rPr>
              <a:t> </a:t>
            </a:r>
            <a:r>
              <a:rPr dirty="0" sz="3200" spc="-25">
                <a:latin typeface="Book Antiqua"/>
                <a:cs typeface="Book Antiqua"/>
              </a:rPr>
              <a:t>36 </a:t>
            </a:r>
            <a:r>
              <a:rPr dirty="0" sz="3200" spc="-210">
                <a:latin typeface="Book Antiqua"/>
                <a:cs typeface="Book Antiqua"/>
              </a:rPr>
              <a:t>Mrunali</a:t>
            </a:r>
            <a:r>
              <a:rPr dirty="0" sz="3200" spc="-20">
                <a:latin typeface="Book Antiqua"/>
                <a:cs typeface="Book Antiqua"/>
              </a:rPr>
              <a:t> </a:t>
            </a:r>
            <a:r>
              <a:rPr dirty="0" sz="3200" spc="-235">
                <a:latin typeface="Book Antiqua"/>
                <a:cs typeface="Book Antiqua"/>
              </a:rPr>
              <a:t>Kamble</a:t>
            </a:r>
            <a:r>
              <a:rPr dirty="0" sz="3200" spc="-15">
                <a:latin typeface="Book Antiqua"/>
                <a:cs typeface="Book Antiqua"/>
              </a:rPr>
              <a:t> </a:t>
            </a:r>
            <a:r>
              <a:rPr dirty="0" sz="3200">
                <a:latin typeface="Book Antiqua"/>
                <a:cs typeface="Book Antiqua"/>
              </a:rPr>
              <a:t>-</a:t>
            </a:r>
            <a:r>
              <a:rPr dirty="0" sz="3200" spc="-20">
                <a:latin typeface="Book Antiqua"/>
                <a:cs typeface="Book Antiqua"/>
              </a:rPr>
              <a:t> </a:t>
            </a:r>
            <a:r>
              <a:rPr dirty="0" sz="3200" spc="-340">
                <a:latin typeface="Book Antiqua"/>
                <a:cs typeface="Book Antiqua"/>
              </a:rPr>
              <a:t>19</a:t>
            </a:r>
            <a:endParaRPr sz="32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9805" y="0"/>
            <a:ext cx="6368193" cy="1028523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2535" y="1230835"/>
            <a:ext cx="16634460" cy="1791335"/>
          </a:xfrm>
          <a:prstGeom prst="rect">
            <a:avLst/>
          </a:prstGeom>
        </p:spPr>
        <p:txBody>
          <a:bodyPr wrap="square" lIns="0" tIns="196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6550" spc="-25" b="1">
                <a:solidFill>
                  <a:srgbClr val="003259"/>
                </a:solidFill>
                <a:latin typeface="Arial"/>
                <a:cs typeface="Arial"/>
              </a:rPr>
              <a:t>DRIPGUARD:</a:t>
            </a:r>
            <a:r>
              <a:rPr dirty="0" sz="6550" spc="-440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550" spc="80" b="1">
                <a:solidFill>
                  <a:srgbClr val="003259"/>
                </a:solidFill>
                <a:latin typeface="Arial"/>
                <a:cs typeface="Arial"/>
              </a:rPr>
              <a:t>H</a:t>
            </a:r>
            <a:r>
              <a:rPr dirty="0" sz="6550" spc="75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6550" spc="-229" b="1">
                <a:solidFill>
                  <a:srgbClr val="003259"/>
                </a:solidFill>
                <a:latin typeface="Arial"/>
                <a:cs typeface="Arial"/>
              </a:rPr>
              <a:t>D</a:t>
            </a:r>
            <a:r>
              <a:rPr dirty="0" sz="6550" spc="-610" b="1">
                <a:solidFill>
                  <a:srgbClr val="003259"/>
                </a:solidFill>
                <a:latin typeface="Arial"/>
                <a:cs typeface="Arial"/>
              </a:rPr>
              <a:t>W</a:t>
            </a:r>
            <a:r>
              <a:rPr dirty="0" sz="6550" spc="75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6550" spc="85" b="1">
                <a:solidFill>
                  <a:srgbClr val="003259"/>
                </a:solidFill>
                <a:latin typeface="Arial"/>
                <a:cs typeface="Arial"/>
              </a:rPr>
              <a:t>E</a:t>
            </a:r>
            <a:r>
              <a:rPr dirty="0" sz="6550" spc="-42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550" spc="-10" b="1">
                <a:solidFill>
                  <a:srgbClr val="003259"/>
                </a:solidFill>
                <a:latin typeface="Arial"/>
                <a:cs typeface="Arial"/>
              </a:rPr>
              <a:t>COMPONENTS</a:t>
            </a:r>
            <a:endParaRPr sz="6550">
              <a:latin typeface="Arial"/>
              <a:cs typeface="Arial"/>
            </a:endParaRPr>
          </a:p>
          <a:p>
            <a:pPr marL="791845">
              <a:lnSpc>
                <a:spcPct val="100000"/>
              </a:lnSpc>
              <a:spcBef>
                <a:spcPts val="740"/>
              </a:spcBef>
            </a:pPr>
            <a:r>
              <a:rPr dirty="0" sz="3200" spc="140">
                <a:latin typeface="Times New Roman"/>
                <a:cs typeface="Times New Roman"/>
              </a:rPr>
              <a:t>Smart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IV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Infusion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30">
                <a:latin typeface="Times New Roman"/>
                <a:cs typeface="Times New Roman"/>
              </a:rPr>
              <a:t>Monitoring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&amp;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Prediction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40"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094389" y="488372"/>
            <a:ext cx="824230" cy="9836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 b="1">
                <a:latin typeface="Times New Roman"/>
                <a:cs typeface="Times New Roman"/>
              </a:rPr>
              <a:t>01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848" y="4248067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848" y="5295817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848" y="6343567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848" y="6867442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848" y="7391317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848" y="7915192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848" y="8439067"/>
            <a:ext cx="85725" cy="85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848" y="8962942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21746" y="3552661"/>
            <a:ext cx="5705638" cy="570563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848" y="10010692"/>
            <a:ext cx="85725" cy="8572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67573" y="3387471"/>
            <a:ext cx="9636760" cy="683577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3000" b="1">
                <a:latin typeface="Times New Roman"/>
                <a:cs typeface="Times New Roman"/>
              </a:rPr>
              <a:t>Main</a:t>
            </a:r>
            <a:r>
              <a:rPr dirty="0" sz="3000" spc="-80" b="1">
                <a:latin typeface="Times New Roman"/>
                <a:cs typeface="Times New Roman"/>
              </a:rPr>
              <a:t> </a:t>
            </a:r>
            <a:r>
              <a:rPr dirty="0" sz="3000" spc="-160" b="1">
                <a:latin typeface="Times New Roman"/>
                <a:cs typeface="Times New Roman"/>
              </a:rPr>
              <a:t>hardware</a:t>
            </a:r>
            <a:r>
              <a:rPr dirty="0" sz="3000" spc="-25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components</a:t>
            </a:r>
            <a:endParaRPr sz="3000">
              <a:latin typeface="Times New Roman"/>
              <a:cs typeface="Times New Roman"/>
            </a:endParaRPr>
          </a:p>
          <a:p>
            <a:pPr marL="658495" marR="5080">
              <a:lnSpc>
                <a:spcPct val="114599"/>
              </a:lnSpc>
            </a:pPr>
            <a:r>
              <a:rPr dirty="0" sz="3000" spc="175">
                <a:latin typeface="Times New Roman"/>
                <a:cs typeface="Times New Roman"/>
              </a:rPr>
              <a:t>NodeMCU</a:t>
            </a:r>
            <a:r>
              <a:rPr dirty="0" sz="3000" spc="3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ESP8266: </a:t>
            </a:r>
            <a:r>
              <a:rPr dirty="0" sz="3000" spc="135">
                <a:latin typeface="Times New Roman"/>
                <a:cs typeface="Times New Roman"/>
              </a:rPr>
              <a:t>Main</a:t>
            </a:r>
            <a:r>
              <a:rPr dirty="0" sz="3000" spc="30">
                <a:latin typeface="Times New Roman"/>
                <a:cs typeface="Times New Roman"/>
              </a:rPr>
              <a:t> </a:t>
            </a:r>
            <a:r>
              <a:rPr dirty="0" sz="3000" spc="70">
                <a:latin typeface="Times New Roman"/>
                <a:cs typeface="Times New Roman"/>
              </a:rPr>
              <a:t>controller</a:t>
            </a:r>
            <a:r>
              <a:rPr dirty="0" sz="3000" spc="30">
                <a:latin typeface="Times New Roman"/>
                <a:cs typeface="Times New Roman"/>
              </a:rPr>
              <a:t> </a:t>
            </a:r>
            <a:r>
              <a:rPr dirty="0" sz="3000" spc="55">
                <a:latin typeface="Times New Roman"/>
                <a:cs typeface="Times New Roman"/>
              </a:rPr>
              <a:t>with</a:t>
            </a:r>
            <a:r>
              <a:rPr dirty="0" sz="3000" spc="30">
                <a:latin typeface="Times New Roman"/>
                <a:cs typeface="Times New Roman"/>
              </a:rPr>
              <a:t> </a:t>
            </a:r>
            <a:r>
              <a:rPr dirty="0" sz="3000" spc="55">
                <a:latin typeface="Times New Roman"/>
                <a:cs typeface="Times New Roman"/>
              </a:rPr>
              <a:t>built-in</a:t>
            </a:r>
            <a:r>
              <a:rPr dirty="0" sz="3000" spc="30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Wi-</a:t>
            </a:r>
            <a:r>
              <a:rPr dirty="0" sz="3000" spc="145">
                <a:latin typeface="Times New Roman"/>
                <a:cs typeface="Times New Roman"/>
              </a:rPr>
              <a:t>Fi</a:t>
            </a:r>
            <a:r>
              <a:rPr dirty="0" sz="3000" spc="-5">
                <a:latin typeface="Times New Roman"/>
                <a:cs typeface="Times New Roman"/>
              </a:rPr>
              <a:t> </a:t>
            </a:r>
            <a:r>
              <a:rPr dirty="0" sz="3000" spc="35">
                <a:latin typeface="Times New Roman"/>
                <a:cs typeface="Times New Roman"/>
              </a:rPr>
              <a:t>connectivity.</a:t>
            </a:r>
            <a:endParaRPr sz="3000">
              <a:latin typeface="Times New Roman"/>
              <a:cs typeface="Times New Roman"/>
            </a:endParaRPr>
          </a:p>
          <a:p>
            <a:pPr marL="658495" marR="963930">
              <a:lnSpc>
                <a:spcPct val="114599"/>
              </a:lnSpc>
            </a:pPr>
            <a:r>
              <a:rPr dirty="0" sz="3000" spc="75">
                <a:latin typeface="Times New Roman"/>
                <a:cs typeface="Times New Roman"/>
              </a:rPr>
              <a:t>LM393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220">
                <a:latin typeface="Times New Roman"/>
                <a:cs typeface="Times New Roman"/>
              </a:rPr>
              <a:t>IR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60">
                <a:latin typeface="Times New Roman"/>
                <a:cs typeface="Times New Roman"/>
              </a:rPr>
              <a:t>Sensor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85">
                <a:latin typeface="Times New Roman"/>
                <a:cs typeface="Times New Roman"/>
              </a:rPr>
              <a:t>Module: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65">
                <a:latin typeface="Times New Roman"/>
                <a:cs typeface="Times New Roman"/>
              </a:rPr>
              <a:t>Detects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110">
                <a:latin typeface="Times New Roman"/>
                <a:cs typeface="Times New Roman"/>
              </a:rPr>
              <a:t>drops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35">
                <a:latin typeface="Times New Roman"/>
                <a:cs typeface="Times New Roman"/>
              </a:rPr>
              <a:t>passing </a:t>
            </a:r>
            <a:r>
              <a:rPr dirty="0" sz="3000" spc="120">
                <a:latin typeface="Times New Roman"/>
                <a:cs typeface="Times New Roman"/>
              </a:rPr>
              <a:t>through</a:t>
            </a:r>
            <a:r>
              <a:rPr dirty="0" sz="3000">
                <a:latin typeface="Times New Roman"/>
                <a:cs typeface="Times New Roman"/>
              </a:rPr>
              <a:t> </a:t>
            </a:r>
            <a:r>
              <a:rPr dirty="0" sz="3000" spc="90">
                <a:latin typeface="Times New Roman"/>
                <a:cs typeface="Times New Roman"/>
              </a:rPr>
              <a:t>the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60">
                <a:latin typeface="Times New Roman"/>
                <a:cs typeface="Times New Roman"/>
              </a:rPr>
              <a:t>IV</a:t>
            </a:r>
            <a:r>
              <a:rPr dirty="0" sz="3000">
                <a:latin typeface="Times New Roman"/>
                <a:cs typeface="Times New Roman"/>
              </a:rPr>
              <a:t> </a:t>
            </a:r>
            <a:r>
              <a:rPr dirty="0" sz="3000" spc="100">
                <a:latin typeface="Times New Roman"/>
                <a:cs typeface="Times New Roman"/>
              </a:rPr>
              <a:t>drip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chamber.</a:t>
            </a:r>
            <a:endParaRPr sz="3000">
              <a:latin typeface="Times New Roman"/>
              <a:cs typeface="Times New Roman"/>
            </a:endParaRPr>
          </a:p>
          <a:p>
            <a:pPr marL="658495" marR="2535555">
              <a:lnSpc>
                <a:spcPct val="114599"/>
              </a:lnSpc>
            </a:pPr>
            <a:r>
              <a:rPr dirty="0" sz="3000" spc="100">
                <a:latin typeface="Times New Roman"/>
                <a:cs typeface="Times New Roman"/>
              </a:rPr>
              <a:t>Green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130">
                <a:latin typeface="Times New Roman"/>
                <a:cs typeface="Times New Roman"/>
              </a:rPr>
              <a:t>LED: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65">
                <a:latin typeface="Times New Roman"/>
                <a:cs typeface="Times New Roman"/>
              </a:rPr>
              <a:t>Indicates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105">
                <a:latin typeface="Times New Roman"/>
                <a:cs typeface="Times New Roman"/>
              </a:rPr>
              <a:t>normal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status. </a:t>
            </a:r>
            <a:r>
              <a:rPr dirty="0" sz="3000">
                <a:latin typeface="Times New Roman"/>
                <a:cs typeface="Times New Roman"/>
              </a:rPr>
              <a:t>Yellow</a:t>
            </a:r>
            <a:r>
              <a:rPr dirty="0" sz="3000" spc="45">
                <a:latin typeface="Times New Roman"/>
                <a:cs typeface="Times New Roman"/>
              </a:rPr>
              <a:t> </a:t>
            </a:r>
            <a:r>
              <a:rPr dirty="0" sz="3000" spc="130">
                <a:latin typeface="Times New Roman"/>
                <a:cs typeface="Times New Roman"/>
              </a:rPr>
              <a:t>LED:</a:t>
            </a:r>
            <a:r>
              <a:rPr dirty="0" sz="3000" spc="45">
                <a:latin typeface="Times New Roman"/>
                <a:cs typeface="Times New Roman"/>
              </a:rPr>
              <a:t> </a:t>
            </a:r>
            <a:r>
              <a:rPr dirty="0" sz="3000" spc="65">
                <a:latin typeface="Times New Roman"/>
                <a:cs typeface="Times New Roman"/>
              </a:rPr>
              <a:t>Indicates</a:t>
            </a:r>
            <a:r>
              <a:rPr dirty="0" sz="3000" spc="50">
                <a:latin typeface="Times New Roman"/>
                <a:cs typeface="Times New Roman"/>
              </a:rPr>
              <a:t> </a:t>
            </a:r>
            <a:r>
              <a:rPr dirty="0" sz="3000" spc="105">
                <a:latin typeface="Times New Roman"/>
                <a:cs typeface="Times New Roman"/>
              </a:rPr>
              <a:t>attention</a:t>
            </a:r>
            <a:r>
              <a:rPr dirty="0" sz="3000" spc="45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status. </a:t>
            </a:r>
            <a:r>
              <a:rPr dirty="0" sz="3000" spc="135">
                <a:latin typeface="Times New Roman"/>
                <a:cs typeface="Times New Roman"/>
              </a:rPr>
              <a:t>Red</a:t>
            </a:r>
            <a:r>
              <a:rPr dirty="0" sz="3000" spc="70">
                <a:latin typeface="Times New Roman"/>
                <a:cs typeface="Times New Roman"/>
              </a:rPr>
              <a:t> </a:t>
            </a:r>
            <a:r>
              <a:rPr dirty="0" sz="3000" spc="130">
                <a:latin typeface="Times New Roman"/>
                <a:cs typeface="Times New Roman"/>
              </a:rPr>
              <a:t>LED:</a:t>
            </a:r>
            <a:r>
              <a:rPr dirty="0" sz="3000" spc="75">
                <a:latin typeface="Times New Roman"/>
                <a:cs typeface="Times New Roman"/>
              </a:rPr>
              <a:t> </a:t>
            </a:r>
            <a:r>
              <a:rPr dirty="0" sz="3000" spc="65">
                <a:latin typeface="Times New Roman"/>
                <a:cs typeface="Times New Roman"/>
              </a:rPr>
              <a:t>Indicates</a:t>
            </a:r>
            <a:r>
              <a:rPr dirty="0" sz="3000" spc="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critical</a:t>
            </a:r>
            <a:r>
              <a:rPr dirty="0" sz="3000" spc="70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status.</a:t>
            </a:r>
            <a:endParaRPr sz="3000">
              <a:latin typeface="Times New Roman"/>
              <a:cs typeface="Times New Roman"/>
            </a:endParaRPr>
          </a:p>
          <a:p>
            <a:pPr marL="658495" marR="2756535">
              <a:lnSpc>
                <a:spcPct val="114599"/>
              </a:lnSpc>
            </a:pPr>
            <a:r>
              <a:rPr dirty="0" sz="3000">
                <a:latin typeface="Times New Roman"/>
                <a:cs typeface="Times New Roman"/>
              </a:rPr>
              <a:t>Active</a:t>
            </a:r>
            <a:r>
              <a:rPr dirty="0" sz="3000" spc="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Buzzer:</a:t>
            </a:r>
            <a:r>
              <a:rPr dirty="0" sz="3000" spc="80">
                <a:latin typeface="Times New Roman"/>
                <a:cs typeface="Times New Roman"/>
              </a:rPr>
              <a:t> </a:t>
            </a:r>
            <a:r>
              <a:rPr dirty="0" sz="3000" spc="55">
                <a:latin typeface="Times New Roman"/>
                <a:cs typeface="Times New Roman"/>
              </a:rPr>
              <a:t>Provides</a:t>
            </a:r>
            <a:r>
              <a:rPr dirty="0" sz="3000" spc="80">
                <a:latin typeface="Times New Roman"/>
                <a:cs typeface="Times New Roman"/>
              </a:rPr>
              <a:t> </a:t>
            </a:r>
            <a:r>
              <a:rPr dirty="0" sz="3000" spc="65">
                <a:latin typeface="Times New Roman"/>
                <a:cs typeface="Times New Roman"/>
              </a:rPr>
              <a:t>audible</a:t>
            </a:r>
            <a:r>
              <a:rPr dirty="0" sz="3000" spc="80">
                <a:latin typeface="Times New Roman"/>
                <a:cs typeface="Times New Roman"/>
              </a:rPr>
              <a:t> </a:t>
            </a:r>
            <a:r>
              <a:rPr dirty="0" sz="3000" spc="45">
                <a:latin typeface="Times New Roman"/>
                <a:cs typeface="Times New Roman"/>
              </a:rPr>
              <a:t>alerts. </a:t>
            </a:r>
            <a:r>
              <a:rPr dirty="0" sz="3000">
                <a:latin typeface="Times New Roman"/>
                <a:cs typeface="Times New Roman"/>
              </a:rPr>
              <a:t>220</a:t>
            </a:r>
            <a:r>
              <a:rPr dirty="0" sz="3000" spc="-5">
                <a:latin typeface="Times New Roman"/>
                <a:cs typeface="Times New Roman"/>
              </a:rPr>
              <a:t> </a:t>
            </a:r>
            <a:r>
              <a:rPr dirty="0" sz="3000" spc="-290">
                <a:latin typeface="Times New Roman"/>
                <a:cs typeface="Times New Roman"/>
              </a:rPr>
              <a:t>Ω</a:t>
            </a:r>
            <a:r>
              <a:rPr dirty="0" sz="3000" spc="-5">
                <a:latin typeface="Times New Roman"/>
                <a:cs typeface="Times New Roman"/>
              </a:rPr>
              <a:t> </a:t>
            </a:r>
            <a:r>
              <a:rPr dirty="0" sz="3000" spc="55">
                <a:latin typeface="Times New Roman"/>
                <a:cs typeface="Times New Roman"/>
              </a:rPr>
              <a:t>Resistors:</a:t>
            </a:r>
            <a:r>
              <a:rPr dirty="0" sz="3000" spc="-5">
                <a:latin typeface="Times New Roman"/>
                <a:cs typeface="Times New Roman"/>
              </a:rPr>
              <a:t> </a:t>
            </a:r>
            <a:r>
              <a:rPr dirty="0" sz="3000" spc="65">
                <a:latin typeface="Times New Roman"/>
                <a:cs typeface="Times New Roman"/>
              </a:rPr>
              <a:t>Limit</a:t>
            </a:r>
            <a:r>
              <a:rPr dirty="0" sz="3000" spc="-5">
                <a:latin typeface="Times New Roman"/>
                <a:cs typeface="Times New Roman"/>
              </a:rPr>
              <a:t> </a:t>
            </a:r>
            <a:r>
              <a:rPr dirty="0" sz="3000" spc="185">
                <a:latin typeface="Times New Roman"/>
                <a:cs typeface="Times New Roman"/>
              </a:rPr>
              <a:t>LED</a:t>
            </a:r>
            <a:r>
              <a:rPr dirty="0" sz="3000" spc="-5">
                <a:latin typeface="Times New Roman"/>
                <a:cs typeface="Times New Roman"/>
              </a:rPr>
              <a:t> </a:t>
            </a:r>
            <a:r>
              <a:rPr dirty="0" sz="3000" spc="80">
                <a:latin typeface="Times New Roman"/>
                <a:cs typeface="Times New Roman"/>
              </a:rPr>
              <a:t>current.</a:t>
            </a:r>
            <a:endParaRPr sz="3000">
              <a:latin typeface="Times New Roman"/>
              <a:cs typeface="Times New Roman"/>
            </a:endParaRPr>
          </a:p>
          <a:p>
            <a:pPr marL="658495" marR="717550">
              <a:lnSpc>
                <a:spcPct val="114599"/>
              </a:lnSpc>
            </a:pPr>
            <a:r>
              <a:rPr dirty="0" sz="3000" spc="110">
                <a:latin typeface="Times New Roman"/>
                <a:cs typeface="Times New Roman"/>
              </a:rPr>
              <a:t>Breadboard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145">
                <a:latin typeface="Times New Roman"/>
                <a:cs typeface="Times New Roman"/>
              </a:rPr>
              <a:t>and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 spc="105">
                <a:latin typeface="Times New Roman"/>
                <a:cs typeface="Times New Roman"/>
              </a:rPr>
              <a:t>Jumper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Wires: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 spc="95">
                <a:latin typeface="Times New Roman"/>
                <a:cs typeface="Times New Roman"/>
              </a:rPr>
              <a:t>Connect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90">
                <a:latin typeface="Times New Roman"/>
                <a:cs typeface="Times New Roman"/>
              </a:rPr>
              <a:t>the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circuit </a:t>
            </a:r>
            <a:r>
              <a:rPr dirty="0" sz="3000" spc="75">
                <a:latin typeface="Times New Roman"/>
                <a:cs typeface="Times New Roman"/>
              </a:rPr>
              <a:t>components.</a:t>
            </a:r>
            <a:endParaRPr sz="3000">
              <a:latin typeface="Times New Roman"/>
              <a:cs typeface="Times New Roman"/>
            </a:endParaRPr>
          </a:p>
          <a:p>
            <a:pPr marL="658495">
              <a:lnSpc>
                <a:spcPct val="100000"/>
              </a:lnSpc>
              <a:spcBef>
                <a:spcPts val="520"/>
              </a:spcBef>
            </a:pPr>
            <a:r>
              <a:rPr dirty="0" sz="3000" spc="75">
                <a:latin typeface="Times New Roman"/>
                <a:cs typeface="Times New Roman"/>
              </a:rPr>
              <a:t>USB</a:t>
            </a:r>
            <a:r>
              <a:rPr dirty="0" sz="3000">
                <a:latin typeface="Times New Roman"/>
                <a:cs typeface="Times New Roman"/>
              </a:rPr>
              <a:t> </a:t>
            </a:r>
            <a:r>
              <a:rPr dirty="0" sz="3000" spc="50">
                <a:latin typeface="Times New Roman"/>
                <a:cs typeface="Times New Roman"/>
              </a:rPr>
              <a:t>Cable: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55">
                <a:latin typeface="Times New Roman"/>
                <a:cs typeface="Times New Roman"/>
              </a:rPr>
              <a:t>Powers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145">
                <a:latin typeface="Times New Roman"/>
                <a:cs typeface="Times New Roman"/>
              </a:rPr>
              <a:t>and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100">
                <a:latin typeface="Times New Roman"/>
                <a:cs typeface="Times New Roman"/>
              </a:rPr>
              <a:t>programs</a:t>
            </a:r>
            <a:r>
              <a:rPr dirty="0" sz="3000">
                <a:latin typeface="Times New Roman"/>
                <a:cs typeface="Times New Roman"/>
              </a:rPr>
              <a:t> </a:t>
            </a:r>
            <a:r>
              <a:rPr dirty="0" sz="3000" spc="90">
                <a:latin typeface="Times New Roman"/>
                <a:cs typeface="Times New Roman"/>
              </a:rPr>
              <a:t>the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150">
                <a:latin typeface="Times New Roman"/>
                <a:cs typeface="Times New Roman"/>
              </a:rPr>
              <a:t>NodeMCU.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9805" y="0"/>
            <a:ext cx="6368193" cy="1028523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56559" y="1413199"/>
            <a:ext cx="12842240" cy="101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0" spc="50" b="1">
                <a:solidFill>
                  <a:srgbClr val="003259"/>
                </a:solidFill>
                <a:latin typeface="Arial"/>
                <a:cs typeface="Arial"/>
              </a:rPr>
              <a:t>H</a:t>
            </a:r>
            <a:r>
              <a:rPr dirty="0" sz="6500" spc="45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6500" spc="-260" b="1">
                <a:solidFill>
                  <a:srgbClr val="003259"/>
                </a:solidFill>
                <a:latin typeface="Arial"/>
                <a:cs typeface="Arial"/>
              </a:rPr>
              <a:t>D</a:t>
            </a:r>
            <a:r>
              <a:rPr dirty="0" sz="6500" spc="-635" b="1">
                <a:solidFill>
                  <a:srgbClr val="003259"/>
                </a:solidFill>
                <a:latin typeface="Arial"/>
                <a:cs typeface="Arial"/>
              </a:rPr>
              <a:t>W</a:t>
            </a:r>
            <a:r>
              <a:rPr dirty="0" sz="6500" spc="45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6500" spc="55" b="1">
                <a:solidFill>
                  <a:srgbClr val="003259"/>
                </a:solidFill>
                <a:latin typeface="Arial"/>
                <a:cs typeface="Arial"/>
              </a:rPr>
              <a:t>E</a:t>
            </a:r>
            <a:r>
              <a:rPr dirty="0" sz="6500" spc="-480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500" spc="145" b="1">
                <a:solidFill>
                  <a:srgbClr val="003259"/>
                </a:solidFill>
                <a:latin typeface="Arial"/>
                <a:cs typeface="Arial"/>
              </a:rPr>
              <a:t>PIN</a:t>
            </a:r>
            <a:r>
              <a:rPr dirty="0" sz="6500" spc="-480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500" spc="-10" b="1">
                <a:solidFill>
                  <a:srgbClr val="003259"/>
                </a:solidFill>
                <a:latin typeface="Arial"/>
                <a:cs typeface="Arial"/>
              </a:rPr>
              <a:t>CONNECTIONS</a:t>
            </a:r>
            <a:endParaRPr sz="6500">
              <a:latin typeface="Arial"/>
              <a:cs typeface="Arial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0094389" y="488372"/>
            <a:ext cx="824230" cy="9836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 b="1">
                <a:latin typeface="Times New Roman"/>
                <a:cs typeface="Times New Roman"/>
              </a:rPr>
              <a:t>02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423" y="4495378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423" y="5066878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423" y="5638378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423" y="6209877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423" y="6781378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67573" y="2993254"/>
            <a:ext cx="5749925" cy="402590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3200" b="1">
                <a:latin typeface="Times New Roman"/>
                <a:cs typeface="Times New Roman"/>
              </a:rPr>
              <a:t>NodeMCU</a:t>
            </a:r>
            <a:r>
              <a:rPr dirty="0" sz="3200" spc="155" b="1">
                <a:latin typeface="Times New Roman"/>
                <a:cs typeface="Times New Roman"/>
              </a:rPr>
              <a:t> </a:t>
            </a:r>
            <a:r>
              <a:rPr dirty="0" sz="3200" spc="55" b="1">
                <a:latin typeface="Times New Roman"/>
                <a:cs typeface="Times New Roman"/>
              </a:rPr>
              <a:t>ESP8266</a:t>
            </a:r>
            <a:r>
              <a:rPr dirty="0" sz="3200" spc="160" b="1">
                <a:latin typeface="Times New Roman"/>
                <a:cs typeface="Times New Roman"/>
              </a:rPr>
              <a:t> </a:t>
            </a:r>
            <a:r>
              <a:rPr dirty="0" sz="3200" spc="-25" b="1">
                <a:latin typeface="Times New Roman"/>
                <a:cs typeface="Times New Roman"/>
              </a:rPr>
              <a:t>connections</a:t>
            </a:r>
            <a:endParaRPr sz="3200">
              <a:latin typeface="Times New Roman"/>
              <a:cs typeface="Times New Roman"/>
            </a:endParaRPr>
          </a:p>
          <a:p>
            <a:pPr marL="526415">
              <a:lnSpc>
                <a:spcPct val="100000"/>
              </a:lnSpc>
              <a:spcBef>
                <a:spcPts val="660"/>
              </a:spcBef>
            </a:pPr>
            <a:r>
              <a:rPr dirty="0" sz="3200" spc="120">
                <a:latin typeface="Times New Roman"/>
                <a:cs typeface="Times New Roman"/>
              </a:rPr>
              <a:t>Components</a:t>
            </a:r>
            <a:endParaRPr sz="3200">
              <a:latin typeface="Times New Roman"/>
              <a:cs typeface="Times New Roman"/>
            </a:endParaRPr>
          </a:p>
          <a:p>
            <a:pPr marL="711200" marR="579120">
              <a:lnSpc>
                <a:spcPct val="117200"/>
              </a:lnSpc>
            </a:pPr>
            <a:r>
              <a:rPr dirty="0" sz="3200" spc="254">
                <a:latin typeface="Times New Roman"/>
                <a:cs typeface="Times New Roman"/>
              </a:rPr>
              <a:t>IR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Sensor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Digital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Output </a:t>
            </a:r>
            <a:r>
              <a:rPr dirty="0" sz="3200" spc="130">
                <a:latin typeface="Times New Roman"/>
                <a:cs typeface="Times New Roman"/>
              </a:rPr>
              <a:t>Green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240">
                <a:latin typeface="Times New Roman"/>
                <a:cs typeface="Times New Roman"/>
              </a:rPr>
              <a:t>LED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50">
                <a:latin typeface="Times New Roman"/>
                <a:cs typeface="Times New Roman"/>
              </a:rPr>
              <a:t>D1</a:t>
            </a:r>
            <a:endParaRPr sz="3200">
              <a:latin typeface="Times New Roman"/>
              <a:cs typeface="Times New Roman"/>
            </a:endParaRPr>
          </a:p>
          <a:p>
            <a:pPr marL="711200" marR="2152650">
              <a:lnSpc>
                <a:spcPct val="117200"/>
              </a:lnSpc>
            </a:pPr>
            <a:r>
              <a:rPr dirty="0" sz="3200">
                <a:latin typeface="Times New Roman"/>
                <a:cs typeface="Times New Roman"/>
              </a:rPr>
              <a:t>Yellow</a:t>
            </a:r>
            <a:r>
              <a:rPr dirty="0" sz="3200" spc="140">
                <a:latin typeface="Times New Roman"/>
                <a:cs typeface="Times New Roman"/>
              </a:rPr>
              <a:t> </a:t>
            </a:r>
            <a:r>
              <a:rPr dirty="0" sz="3200" spc="240">
                <a:latin typeface="Times New Roman"/>
                <a:cs typeface="Times New Roman"/>
              </a:rPr>
              <a:t>LED</a:t>
            </a:r>
            <a:r>
              <a:rPr dirty="0" sz="3200" spc="140">
                <a:latin typeface="Times New Roman"/>
                <a:cs typeface="Times New Roman"/>
              </a:rPr>
              <a:t> </a:t>
            </a:r>
            <a:r>
              <a:rPr dirty="0" sz="3200" spc="150">
                <a:latin typeface="Times New Roman"/>
                <a:cs typeface="Times New Roman"/>
              </a:rPr>
              <a:t>D2 </a:t>
            </a:r>
            <a:r>
              <a:rPr dirty="0" sz="3200" spc="160">
                <a:latin typeface="Times New Roman"/>
                <a:cs typeface="Times New Roman"/>
              </a:rPr>
              <a:t>Red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240">
                <a:latin typeface="Times New Roman"/>
                <a:cs typeface="Times New Roman"/>
              </a:rPr>
              <a:t>LED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50">
                <a:latin typeface="Times New Roman"/>
                <a:cs typeface="Times New Roman"/>
              </a:rPr>
              <a:t>D3</a:t>
            </a:r>
            <a:endParaRPr sz="3200">
              <a:latin typeface="Times New Roman"/>
              <a:cs typeface="Times New Roman"/>
            </a:endParaRPr>
          </a:p>
          <a:p>
            <a:pPr marL="711200">
              <a:lnSpc>
                <a:spcPct val="100000"/>
              </a:lnSpc>
              <a:spcBef>
                <a:spcPts val="660"/>
              </a:spcBef>
            </a:pPr>
            <a:r>
              <a:rPr dirty="0" sz="3200">
                <a:latin typeface="Times New Roman"/>
                <a:cs typeface="Times New Roman"/>
              </a:rPr>
              <a:t>Buzzer</a:t>
            </a:r>
            <a:r>
              <a:rPr dirty="0" sz="3200" spc="15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Signal</a:t>
            </a:r>
            <a:r>
              <a:rPr dirty="0" sz="3200" spc="160">
                <a:latin typeface="Times New Roman"/>
                <a:cs typeface="Times New Roman"/>
              </a:rPr>
              <a:t> </a:t>
            </a:r>
            <a:r>
              <a:rPr dirty="0" sz="3200" spc="150">
                <a:latin typeface="Times New Roman"/>
                <a:cs typeface="Times New Roman"/>
              </a:rPr>
              <a:t>D6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791" y="3564754"/>
            <a:ext cx="2727325" cy="3454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3180" marR="5080" indent="-31115">
              <a:lnSpc>
                <a:spcPct val="117200"/>
              </a:lnSpc>
              <a:spcBef>
                <a:spcPts val="90"/>
              </a:spcBef>
            </a:pPr>
            <a:r>
              <a:rPr dirty="0" sz="3200" spc="215">
                <a:latin typeface="Times New Roman"/>
                <a:cs typeface="Times New Roman"/>
              </a:rPr>
              <a:t>NodeMCU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Pin </a:t>
            </a:r>
            <a:r>
              <a:rPr dirty="0" sz="3200" spc="175">
                <a:latin typeface="Times New Roman"/>
                <a:cs typeface="Times New Roman"/>
              </a:rPr>
              <a:t>D5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(GPIO14) </a:t>
            </a:r>
            <a:r>
              <a:rPr dirty="0" sz="3200" spc="110">
                <a:latin typeface="Times New Roman"/>
                <a:cs typeface="Times New Roman"/>
              </a:rPr>
              <a:t>(GPIO5) (GPIO4) (GPIO0) </a:t>
            </a:r>
            <a:r>
              <a:rPr dirty="0" sz="3200" spc="100">
                <a:latin typeface="Times New Roman"/>
                <a:cs typeface="Times New Roman"/>
              </a:rPr>
              <a:t>(GPIO12)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423" y="7924378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423" y="8495877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7807" y="3174411"/>
            <a:ext cx="5246369" cy="588073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423" y="9638877"/>
            <a:ext cx="95250" cy="952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66321" y="7565253"/>
            <a:ext cx="8843010" cy="2311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90"/>
              </a:spcBef>
            </a:pPr>
            <a:r>
              <a:rPr dirty="0" sz="3200" spc="114">
                <a:latin typeface="Times New Roman"/>
                <a:cs typeface="Times New Roman"/>
              </a:rPr>
              <a:t>Connect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each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240">
                <a:latin typeface="Times New Roman"/>
                <a:cs typeface="Times New Roman"/>
              </a:rPr>
              <a:t>LED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50">
                <a:latin typeface="Times New Roman"/>
                <a:cs typeface="Times New Roman"/>
              </a:rPr>
              <a:t>through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85">
                <a:latin typeface="Times New Roman"/>
                <a:cs typeface="Times New Roman"/>
              </a:rPr>
              <a:t>a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220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285">
                <a:latin typeface="Times New Roman"/>
                <a:cs typeface="Times New Roman"/>
              </a:rPr>
              <a:t>Ω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resistor. </a:t>
            </a:r>
            <a:r>
              <a:rPr dirty="0" sz="3200" spc="114">
                <a:latin typeface="Times New Roman"/>
                <a:cs typeface="Times New Roman"/>
              </a:rPr>
              <a:t>Connect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the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components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to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the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40">
                <a:latin typeface="Times New Roman"/>
                <a:cs typeface="Times New Roman"/>
              </a:rPr>
              <a:t>appropriate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power </a:t>
            </a:r>
            <a:r>
              <a:rPr dirty="0" sz="3200" spc="80">
                <a:latin typeface="Times New Roman"/>
                <a:cs typeface="Times New Roman"/>
              </a:rPr>
              <a:t>supply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35">
                <a:latin typeface="Times New Roman"/>
                <a:cs typeface="Times New Roman"/>
              </a:rPr>
              <a:t>common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20">
                <a:latin typeface="Times New Roman"/>
                <a:cs typeface="Times New Roman"/>
              </a:rPr>
              <a:t>ground.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3200">
                <a:latin typeface="Times New Roman"/>
                <a:cs typeface="Times New Roman"/>
              </a:rPr>
              <a:t>Verify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all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connections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before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powering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the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circuit.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298" y="4043151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298" y="5186151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298" y="6329151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298" y="7472151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298" y="8615151"/>
            <a:ext cx="95250" cy="952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68196" y="3684027"/>
            <a:ext cx="7071359" cy="5740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84860">
              <a:lnSpc>
                <a:spcPct val="117200"/>
              </a:lnSpc>
              <a:spcBef>
                <a:spcPts val="90"/>
              </a:spcBef>
            </a:pPr>
            <a:r>
              <a:rPr dirty="0" sz="3200" spc="114">
                <a:latin typeface="Times New Roman"/>
                <a:cs typeface="Times New Roman"/>
              </a:rPr>
              <a:t>The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254">
                <a:latin typeface="Times New Roman"/>
                <a:cs typeface="Times New Roman"/>
              </a:rPr>
              <a:t>IR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sensor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detects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35">
                <a:latin typeface="Times New Roman"/>
                <a:cs typeface="Times New Roman"/>
              </a:rPr>
              <a:t>drops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passing </a:t>
            </a:r>
            <a:r>
              <a:rPr dirty="0" sz="3200" spc="150">
                <a:latin typeface="Times New Roman"/>
                <a:cs typeface="Times New Roman"/>
              </a:rPr>
              <a:t>through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the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IV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drip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chamber.</a:t>
            </a:r>
            <a:endParaRPr sz="3200">
              <a:latin typeface="Times New Roman"/>
              <a:cs typeface="Times New Roman"/>
            </a:endParaRPr>
          </a:p>
          <a:p>
            <a:pPr marL="12700" marR="244475">
              <a:lnSpc>
                <a:spcPct val="117200"/>
              </a:lnSpc>
            </a:pPr>
            <a:r>
              <a:rPr dirty="0" sz="3200" spc="114">
                <a:latin typeface="Times New Roman"/>
                <a:cs typeface="Times New Roman"/>
              </a:rPr>
              <a:t>The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215">
                <a:latin typeface="Times New Roman"/>
                <a:cs typeface="Times New Roman"/>
              </a:rPr>
              <a:t>NodeMCU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reads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the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sensor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40">
                <a:latin typeface="Times New Roman"/>
                <a:cs typeface="Times New Roman"/>
              </a:rPr>
              <a:t>signal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counts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the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detected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drops.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17200"/>
              </a:lnSpc>
            </a:pPr>
            <a:r>
              <a:rPr dirty="0" sz="3200" spc="114">
                <a:latin typeface="Times New Roman"/>
                <a:cs typeface="Times New Roman"/>
              </a:rPr>
              <a:t>The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system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calculates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the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drip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30">
                <a:latin typeface="Times New Roman"/>
                <a:cs typeface="Times New Roman"/>
              </a:rPr>
              <a:t>rate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using </a:t>
            </a:r>
            <a:r>
              <a:rPr dirty="0" sz="3200" spc="110">
                <a:latin typeface="Times New Roman"/>
                <a:cs typeface="Times New Roman"/>
              </a:rPr>
              <a:t>the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configured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settings.</a:t>
            </a:r>
            <a:endParaRPr sz="3200">
              <a:latin typeface="Times New Roman"/>
              <a:cs typeface="Times New Roman"/>
            </a:endParaRPr>
          </a:p>
          <a:p>
            <a:pPr marL="12700" marR="1511300">
              <a:lnSpc>
                <a:spcPct val="117200"/>
              </a:lnSpc>
            </a:pPr>
            <a:r>
              <a:rPr dirty="0" sz="3200" spc="175">
                <a:latin typeface="Times New Roman"/>
                <a:cs typeface="Times New Roman"/>
              </a:rPr>
              <a:t>LEDs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indicate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the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programmed </a:t>
            </a:r>
            <a:r>
              <a:rPr dirty="0" sz="3200" spc="114">
                <a:latin typeface="Times New Roman"/>
                <a:cs typeface="Times New Roman"/>
              </a:rPr>
              <a:t>monitoring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status.</a:t>
            </a:r>
            <a:endParaRPr sz="3200">
              <a:latin typeface="Times New Roman"/>
              <a:cs typeface="Times New Roman"/>
            </a:endParaRPr>
          </a:p>
          <a:p>
            <a:pPr marL="12700" marR="748665">
              <a:lnSpc>
                <a:spcPct val="117200"/>
              </a:lnSpc>
            </a:pPr>
            <a:r>
              <a:rPr dirty="0" sz="3200" spc="114">
                <a:latin typeface="Times New Roman"/>
                <a:cs typeface="Times New Roman"/>
              </a:rPr>
              <a:t>The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buzzer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provides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alert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when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35">
                <a:latin typeface="Times New Roman"/>
                <a:cs typeface="Times New Roman"/>
              </a:rPr>
              <a:t>a </a:t>
            </a:r>
            <a:r>
              <a:rPr dirty="0" sz="3200" spc="80">
                <a:latin typeface="Times New Roman"/>
                <a:cs typeface="Times New Roman"/>
              </a:rPr>
              <a:t>configured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condition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is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met.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36239" y="0"/>
            <a:ext cx="5551761" cy="936404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69448" y="1436953"/>
            <a:ext cx="16079469" cy="22726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13690">
              <a:lnSpc>
                <a:spcPct val="100000"/>
              </a:lnSpc>
              <a:spcBef>
                <a:spcPts val="120"/>
              </a:spcBef>
            </a:pPr>
            <a:r>
              <a:rPr dirty="0" sz="7400" spc="60" b="1">
                <a:solidFill>
                  <a:srgbClr val="003259"/>
                </a:solidFill>
                <a:latin typeface="Arial"/>
                <a:cs typeface="Arial"/>
              </a:rPr>
              <a:t>H</a:t>
            </a:r>
            <a:r>
              <a:rPr dirty="0" sz="7400" spc="55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7400" spc="-295" b="1">
                <a:solidFill>
                  <a:srgbClr val="003259"/>
                </a:solidFill>
                <a:latin typeface="Arial"/>
                <a:cs typeface="Arial"/>
              </a:rPr>
              <a:t>D</a:t>
            </a:r>
            <a:r>
              <a:rPr dirty="0" sz="7400" spc="-725" b="1">
                <a:solidFill>
                  <a:srgbClr val="003259"/>
                </a:solidFill>
                <a:latin typeface="Arial"/>
                <a:cs typeface="Arial"/>
              </a:rPr>
              <a:t>W</a:t>
            </a:r>
            <a:r>
              <a:rPr dirty="0" sz="7400" spc="55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7400" spc="65" b="1">
                <a:solidFill>
                  <a:srgbClr val="003259"/>
                </a:solidFill>
                <a:latin typeface="Arial"/>
                <a:cs typeface="Arial"/>
              </a:rPr>
              <a:t>E</a:t>
            </a:r>
            <a:r>
              <a:rPr dirty="0" sz="7400" spc="-54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7400" spc="135" b="1">
                <a:solidFill>
                  <a:srgbClr val="003259"/>
                </a:solidFill>
                <a:latin typeface="Arial"/>
                <a:cs typeface="Arial"/>
              </a:rPr>
              <a:t>WORKING</a:t>
            </a:r>
            <a:r>
              <a:rPr dirty="0" sz="7400" spc="-550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7400" spc="-10" b="1">
                <a:solidFill>
                  <a:srgbClr val="003259"/>
                </a:solidFill>
                <a:latin typeface="Arial"/>
                <a:cs typeface="Arial"/>
              </a:rPr>
              <a:t>PRINCIPLE</a:t>
            </a:r>
            <a:endParaRPr sz="7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45"/>
              </a:spcBef>
            </a:pPr>
            <a:r>
              <a:rPr dirty="0" sz="3200" b="1">
                <a:latin typeface="Times New Roman"/>
                <a:cs typeface="Times New Roman"/>
              </a:rPr>
              <a:t>How</a:t>
            </a:r>
            <a:r>
              <a:rPr dirty="0" sz="3200" spc="-12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the</a:t>
            </a:r>
            <a:r>
              <a:rPr dirty="0" sz="3200" spc="-114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system</a:t>
            </a:r>
            <a:r>
              <a:rPr dirty="0" sz="3200" spc="-114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works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0094389" y="488372"/>
            <a:ext cx="824230" cy="9836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 b="1"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857342" y="3762192"/>
            <a:ext cx="5735955" cy="215900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dirty="0" sz="3000" spc="-75" b="1">
                <a:latin typeface="Times New Roman"/>
                <a:cs typeface="Times New Roman"/>
              </a:rPr>
              <a:t>Working</a:t>
            </a:r>
            <a:r>
              <a:rPr dirty="0" sz="3000" spc="-65" b="1">
                <a:latin typeface="Times New Roman"/>
                <a:cs typeface="Times New Roman"/>
              </a:rPr>
              <a:t> </a:t>
            </a:r>
            <a:r>
              <a:rPr dirty="0" sz="3000" spc="-20" b="1">
                <a:latin typeface="Times New Roman"/>
                <a:cs typeface="Times New Roman"/>
              </a:rPr>
              <a:t>flow</a:t>
            </a:r>
            <a:endParaRPr sz="3000">
              <a:latin typeface="Times New Roman"/>
              <a:cs typeface="Times New Roman"/>
            </a:endParaRPr>
          </a:p>
          <a:p>
            <a:pPr algn="ctr" marL="12700" marR="5080" indent="21590">
              <a:lnSpc>
                <a:spcPts val="4200"/>
              </a:lnSpc>
              <a:spcBef>
                <a:spcPts val="105"/>
              </a:spcBef>
            </a:pPr>
            <a:r>
              <a:rPr dirty="0" sz="3000" spc="75">
                <a:latin typeface="Times New Roman"/>
                <a:cs typeface="Times New Roman"/>
              </a:rPr>
              <a:t>IV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150">
                <a:latin typeface="Times New Roman"/>
                <a:cs typeface="Times New Roman"/>
              </a:rPr>
              <a:t>Drip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130">
                <a:latin typeface="Times New Roman"/>
                <a:cs typeface="Times New Roman"/>
              </a:rPr>
              <a:t>Chamber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2600" spc="755">
                <a:latin typeface="Lucida Sans Unicode"/>
                <a:cs typeface="Lucida Sans Unicode"/>
              </a:rPr>
              <a:t>→</a:t>
            </a:r>
            <a:r>
              <a:rPr dirty="0" sz="2600" spc="-240">
                <a:latin typeface="Lucida Sans Unicode"/>
                <a:cs typeface="Lucida Sans Unicode"/>
              </a:rPr>
              <a:t> </a:t>
            </a:r>
            <a:r>
              <a:rPr dirty="0" sz="3000" spc="235">
                <a:latin typeface="Times New Roman"/>
                <a:cs typeface="Times New Roman"/>
              </a:rPr>
              <a:t>IR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Sensor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2600" spc="705">
                <a:latin typeface="Lucida Sans Unicode"/>
                <a:cs typeface="Lucida Sans Unicode"/>
              </a:rPr>
              <a:t>→ </a:t>
            </a:r>
            <a:r>
              <a:rPr dirty="0" sz="3000" spc="200">
                <a:latin typeface="Times New Roman"/>
                <a:cs typeface="Times New Roman"/>
              </a:rPr>
              <a:t>NodeMCU</a:t>
            </a:r>
            <a:r>
              <a:rPr dirty="0" sz="3000" spc="8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ESP8266</a:t>
            </a:r>
            <a:r>
              <a:rPr dirty="0" sz="3000" spc="85">
                <a:latin typeface="Times New Roman"/>
                <a:cs typeface="Times New Roman"/>
              </a:rPr>
              <a:t> </a:t>
            </a:r>
            <a:r>
              <a:rPr dirty="0" sz="2600" spc="755">
                <a:latin typeface="Lucida Sans Unicode"/>
                <a:cs typeface="Lucida Sans Unicode"/>
              </a:rPr>
              <a:t>→</a:t>
            </a:r>
            <a:r>
              <a:rPr dirty="0" sz="2600" spc="-180">
                <a:latin typeface="Lucida Sans Unicode"/>
                <a:cs typeface="Lucida Sans Unicode"/>
              </a:rPr>
              <a:t> </a:t>
            </a:r>
            <a:r>
              <a:rPr dirty="0" sz="3000" spc="160">
                <a:latin typeface="Times New Roman"/>
                <a:cs typeface="Times New Roman"/>
              </a:rPr>
              <a:t>LEDs</a:t>
            </a:r>
            <a:r>
              <a:rPr dirty="0" sz="3000" spc="85">
                <a:latin typeface="Times New Roman"/>
                <a:cs typeface="Times New Roman"/>
              </a:rPr>
              <a:t> </a:t>
            </a:r>
            <a:r>
              <a:rPr dirty="0" sz="3000" spc="135">
                <a:latin typeface="Times New Roman"/>
                <a:cs typeface="Times New Roman"/>
              </a:rPr>
              <a:t>and </a:t>
            </a:r>
            <a:r>
              <a:rPr dirty="0" sz="3000" spc="40">
                <a:latin typeface="Times New Roman"/>
                <a:cs typeface="Times New Roman"/>
              </a:rPr>
              <a:t>Buzzer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01655" y="6429192"/>
            <a:ext cx="6247130" cy="1092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7670" marR="5080" indent="-395605">
              <a:lnSpc>
                <a:spcPct val="116700"/>
              </a:lnSpc>
              <a:spcBef>
                <a:spcPts val="90"/>
              </a:spcBef>
            </a:pPr>
            <a:r>
              <a:rPr dirty="0" sz="3000" spc="-50" b="1">
                <a:latin typeface="Times New Roman"/>
                <a:cs typeface="Times New Roman"/>
              </a:rPr>
              <a:t>Objective</a:t>
            </a:r>
            <a:r>
              <a:rPr dirty="0" sz="3000" spc="-50">
                <a:latin typeface="Times New Roman"/>
                <a:cs typeface="Times New Roman"/>
              </a:rPr>
              <a:t>:</a:t>
            </a:r>
            <a:r>
              <a:rPr dirty="0" sz="3000" spc="-5">
                <a:latin typeface="Times New Roman"/>
                <a:cs typeface="Times New Roman"/>
              </a:rPr>
              <a:t> </a:t>
            </a:r>
            <a:r>
              <a:rPr dirty="0" sz="3000" spc="114">
                <a:latin typeface="Times New Roman"/>
                <a:cs typeface="Times New Roman"/>
              </a:rPr>
              <a:t>Demonstrate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real-</a:t>
            </a:r>
            <a:r>
              <a:rPr dirty="0" sz="3000" spc="65">
                <a:latin typeface="Times New Roman"/>
                <a:cs typeface="Times New Roman"/>
              </a:rPr>
              <a:t>time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114">
                <a:latin typeface="Times New Roman"/>
                <a:cs typeface="Times New Roman"/>
              </a:rPr>
              <a:t>drop </a:t>
            </a:r>
            <a:r>
              <a:rPr dirty="0" sz="3000" spc="100">
                <a:latin typeface="Times New Roman"/>
                <a:cs typeface="Times New Roman"/>
              </a:rPr>
              <a:t>monitoring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 spc="160">
                <a:latin typeface="Times New Roman"/>
                <a:cs typeface="Times New Roman"/>
              </a:rPr>
              <a:t>and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 spc="95">
                <a:latin typeface="Times New Roman"/>
                <a:cs typeface="Times New Roman"/>
              </a:rPr>
              <a:t>status</a:t>
            </a:r>
            <a:r>
              <a:rPr dirty="0" sz="3000" spc="30">
                <a:latin typeface="Times New Roman"/>
                <a:cs typeface="Times New Roman"/>
              </a:rPr>
              <a:t> </a:t>
            </a:r>
            <a:r>
              <a:rPr dirty="0" sz="3000" spc="65">
                <a:latin typeface="Times New Roman"/>
                <a:cs typeface="Times New Roman"/>
              </a:rPr>
              <a:t>indication.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060" y="4444381"/>
            <a:ext cx="89037" cy="890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060" y="5512834"/>
            <a:ext cx="89037" cy="890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060" y="6581287"/>
            <a:ext cx="89037" cy="8903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76211" y="0"/>
            <a:ext cx="3511788" cy="7200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060" y="7649740"/>
            <a:ext cx="89037" cy="8903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060" y="8718193"/>
            <a:ext cx="89037" cy="890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24962" y="4107851"/>
            <a:ext cx="8107680" cy="5368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63830">
              <a:lnSpc>
                <a:spcPct val="116799"/>
              </a:lnSpc>
              <a:spcBef>
                <a:spcPts val="95"/>
              </a:spcBef>
            </a:pPr>
            <a:r>
              <a:rPr dirty="0" sz="3000" spc="100">
                <a:latin typeface="Times New Roman"/>
                <a:cs typeface="Times New Roman"/>
              </a:rPr>
              <a:t>The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200">
                <a:latin typeface="Times New Roman"/>
                <a:cs typeface="Times New Roman"/>
              </a:rPr>
              <a:t>NodeMCU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70">
                <a:latin typeface="Times New Roman"/>
                <a:cs typeface="Times New Roman"/>
              </a:rPr>
              <a:t>connects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160">
                <a:latin typeface="Times New Roman"/>
                <a:cs typeface="Times New Roman"/>
              </a:rPr>
              <a:t>to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00">
                <a:latin typeface="Times New Roman"/>
                <a:cs typeface="Times New Roman"/>
              </a:rPr>
              <a:t>the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130">
                <a:latin typeface="Times New Roman"/>
                <a:cs typeface="Times New Roman"/>
              </a:rPr>
              <a:t>Python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00">
                <a:latin typeface="Times New Roman"/>
                <a:cs typeface="Times New Roman"/>
              </a:rPr>
              <a:t>backend </a:t>
            </a:r>
            <a:r>
              <a:rPr dirty="0" sz="3000" spc="135">
                <a:latin typeface="Times New Roman"/>
                <a:cs typeface="Times New Roman"/>
              </a:rPr>
              <a:t>through</a:t>
            </a:r>
            <a:r>
              <a:rPr dirty="0" sz="3000" spc="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2.4</a:t>
            </a:r>
            <a:r>
              <a:rPr dirty="0" sz="3000" spc="65">
                <a:latin typeface="Times New Roman"/>
                <a:cs typeface="Times New Roman"/>
              </a:rPr>
              <a:t> </a:t>
            </a:r>
            <a:r>
              <a:rPr dirty="0" sz="3000" spc="204">
                <a:latin typeface="Times New Roman"/>
                <a:cs typeface="Times New Roman"/>
              </a:rPr>
              <a:t>GHz</a:t>
            </a:r>
            <a:r>
              <a:rPr dirty="0" sz="3000" spc="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Wi-</a:t>
            </a:r>
            <a:r>
              <a:rPr dirty="0" sz="3000" spc="100">
                <a:latin typeface="Times New Roman"/>
                <a:cs typeface="Times New Roman"/>
              </a:rPr>
              <a:t>Fi.</a:t>
            </a: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ct val="116799"/>
              </a:lnSpc>
            </a:pPr>
            <a:r>
              <a:rPr dirty="0" sz="3000" spc="100">
                <a:latin typeface="Times New Roman"/>
                <a:cs typeface="Times New Roman"/>
              </a:rPr>
              <a:t>The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110">
                <a:latin typeface="Times New Roman"/>
                <a:cs typeface="Times New Roman"/>
              </a:rPr>
              <a:t>backend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 spc="70">
                <a:latin typeface="Times New Roman"/>
                <a:cs typeface="Times New Roman"/>
              </a:rPr>
              <a:t>provides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 spc="90">
                <a:latin typeface="Times New Roman"/>
                <a:cs typeface="Times New Roman"/>
              </a:rPr>
              <a:t>configuration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 spc="50">
                <a:latin typeface="Times New Roman"/>
                <a:cs typeface="Times New Roman"/>
              </a:rPr>
              <a:t>settings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55">
                <a:latin typeface="Times New Roman"/>
                <a:cs typeface="Times New Roman"/>
              </a:rPr>
              <a:t>such </a:t>
            </a:r>
            <a:r>
              <a:rPr dirty="0" sz="3000" spc="80">
                <a:latin typeface="Times New Roman"/>
                <a:cs typeface="Times New Roman"/>
              </a:rPr>
              <a:t>as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05">
                <a:latin typeface="Times New Roman"/>
                <a:cs typeface="Times New Roman"/>
              </a:rPr>
              <a:t>bag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65">
                <a:latin typeface="Times New Roman"/>
                <a:cs typeface="Times New Roman"/>
              </a:rPr>
              <a:t>volume,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110">
                <a:latin typeface="Times New Roman"/>
                <a:cs typeface="Times New Roman"/>
              </a:rPr>
              <a:t>drip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95">
                <a:latin typeface="Times New Roman"/>
                <a:cs typeface="Times New Roman"/>
              </a:rPr>
              <a:t>factor,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160">
                <a:latin typeface="Times New Roman"/>
                <a:cs typeface="Times New Roman"/>
              </a:rPr>
              <a:t>and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05">
                <a:latin typeface="Times New Roman"/>
                <a:cs typeface="Times New Roman"/>
              </a:rPr>
              <a:t>target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10">
                <a:latin typeface="Times New Roman"/>
                <a:cs typeface="Times New Roman"/>
              </a:rPr>
              <a:t>drip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85">
                <a:latin typeface="Times New Roman"/>
                <a:cs typeface="Times New Roman"/>
              </a:rPr>
              <a:t>rate.</a:t>
            </a:r>
            <a:endParaRPr sz="3000">
              <a:latin typeface="Times New Roman"/>
              <a:cs typeface="Times New Roman"/>
            </a:endParaRPr>
          </a:p>
          <a:p>
            <a:pPr marL="12700" marR="288925">
              <a:lnSpc>
                <a:spcPct val="116799"/>
              </a:lnSpc>
              <a:spcBef>
                <a:spcPts val="5"/>
              </a:spcBef>
            </a:pPr>
            <a:r>
              <a:rPr dirty="0" sz="3000" spc="100">
                <a:latin typeface="Times New Roman"/>
                <a:cs typeface="Times New Roman"/>
              </a:rPr>
              <a:t>The</a:t>
            </a:r>
            <a:r>
              <a:rPr dirty="0" sz="3000" spc="95">
                <a:latin typeface="Times New Roman"/>
                <a:cs typeface="Times New Roman"/>
              </a:rPr>
              <a:t> </a:t>
            </a:r>
            <a:r>
              <a:rPr dirty="0" sz="3000" spc="200">
                <a:latin typeface="Times New Roman"/>
                <a:cs typeface="Times New Roman"/>
              </a:rPr>
              <a:t>NodeMCU</a:t>
            </a:r>
            <a:r>
              <a:rPr dirty="0" sz="3000" spc="10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processes</a:t>
            </a:r>
            <a:r>
              <a:rPr dirty="0" sz="3000" spc="95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sensor</a:t>
            </a:r>
            <a:r>
              <a:rPr dirty="0" sz="3000" spc="100">
                <a:latin typeface="Times New Roman"/>
                <a:cs typeface="Times New Roman"/>
              </a:rPr>
              <a:t> </a:t>
            </a:r>
            <a:r>
              <a:rPr dirty="0" sz="3000" spc="70">
                <a:latin typeface="Times New Roman"/>
                <a:cs typeface="Times New Roman"/>
              </a:rPr>
              <a:t>readings</a:t>
            </a:r>
            <a:r>
              <a:rPr dirty="0" sz="3000" spc="95">
                <a:latin typeface="Times New Roman"/>
                <a:cs typeface="Times New Roman"/>
              </a:rPr>
              <a:t> </a:t>
            </a:r>
            <a:r>
              <a:rPr dirty="0" sz="3000" spc="35">
                <a:latin typeface="Times New Roman"/>
                <a:cs typeface="Times New Roman"/>
              </a:rPr>
              <a:t>using </a:t>
            </a:r>
            <a:r>
              <a:rPr dirty="0" sz="3000" spc="100">
                <a:latin typeface="Times New Roman"/>
                <a:cs typeface="Times New Roman"/>
              </a:rPr>
              <a:t>the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70">
                <a:latin typeface="Times New Roman"/>
                <a:cs typeface="Times New Roman"/>
              </a:rPr>
              <a:t>configured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40">
                <a:latin typeface="Times New Roman"/>
                <a:cs typeface="Times New Roman"/>
              </a:rPr>
              <a:t>settings.</a:t>
            </a:r>
            <a:endParaRPr sz="3000">
              <a:latin typeface="Times New Roman"/>
              <a:cs typeface="Times New Roman"/>
            </a:endParaRPr>
          </a:p>
          <a:p>
            <a:pPr marL="12700" marR="697230">
              <a:lnSpc>
                <a:spcPct val="116799"/>
              </a:lnSpc>
            </a:pPr>
            <a:r>
              <a:rPr dirty="0" sz="3000" spc="100">
                <a:latin typeface="Times New Roman"/>
                <a:cs typeface="Times New Roman"/>
              </a:rPr>
              <a:t>The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70">
                <a:latin typeface="Times New Roman"/>
                <a:cs typeface="Times New Roman"/>
              </a:rPr>
              <a:t>readings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00">
                <a:latin typeface="Times New Roman"/>
                <a:cs typeface="Times New Roman"/>
              </a:rPr>
              <a:t>are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sent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60">
                <a:latin typeface="Times New Roman"/>
                <a:cs typeface="Times New Roman"/>
              </a:rPr>
              <a:t>to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00">
                <a:latin typeface="Times New Roman"/>
                <a:cs typeface="Times New Roman"/>
              </a:rPr>
              <a:t>the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10">
                <a:latin typeface="Times New Roman"/>
                <a:cs typeface="Times New Roman"/>
              </a:rPr>
              <a:t>backend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125">
                <a:latin typeface="Times New Roman"/>
                <a:cs typeface="Times New Roman"/>
              </a:rPr>
              <a:t>through </a:t>
            </a:r>
            <a:r>
              <a:rPr dirty="0" sz="3000" spc="195">
                <a:latin typeface="Times New Roman"/>
                <a:cs typeface="Times New Roman"/>
              </a:rPr>
              <a:t>HTTP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60">
                <a:latin typeface="Times New Roman"/>
                <a:cs typeface="Times New Roman"/>
              </a:rPr>
              <a:t>requests.</a:t>
            </a:r>
            <a:endParaRPr sz="3000">
              <a:latin typeface="Times New Roman"/>
              <a:cs typeface="Times New Roman"/>
            </a:endParaRPr>
          </a:p>
          <a:p>
            <a:pPr marL="12700" marR="349250">
              <a:lnSpc>
                <a:spcPct val="116799"/>
              </a:lnSpc>
            </a:pPr>
            <a:r>
              <a:rPr dirty="0" sz="3000" spc="100">
                <a:latin typeface="Times New Roman"/>
                <a:cs typeface="Times New Roman"/>
              </a:rPr>
              <a:t>The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10">
                <a:latin typeface="Times New Roman"/>
                <a:cs typeface="Times New Roman"/>
              </a:rPr>
              <a:t>backend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stores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60">
                <a:latin typeface="Times New Roman"/>
                <a:cs typeface="Times New Roman"/>
              </a:rPr>
              <a:t>and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shares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00">
                <a:latin typeface="Times New Roman"/>
                <a:cs typeface="Times New Roman"/>
              </a:rPr>
              <a:t>monitoring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145">
                <a:latin typeface="Times New Roman"/>
                <a:cs typeface="Times New Roman"/>
              </a:rPr>
              <a:t>data </a:t>
            </a:r>
            <a:r>
              <a:rPr dirty="0" sz="3000" spc="70">
                <a:latin typeface="Times New Roman"/>
                <a:cs typeface="Times New Roman"/>
              </a:rPr>
              <a:t>with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00">
                <a:latin typeface="Times New Roman"/>
                <a:cs typeface="Times New Roman"/>
              </a:rPr>
              <a:t>the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25">
                <a:latin typeface="Times New Roman"/>
                <a:cs typeface="Times New Roman"/>
              </a:rPr>
              <a:t>dashboard.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1787" y="1045548"/>
            <a:ext cx="12975590" cy="308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7505" marR="5080" indent="-2068195">
              <a:lnSpc>
                <a:spcPct val="116100"/>
              </a:lnSpc>
              <a:spcBef>
                <a:spcPts val="100"/>
              </a:spcBef>
            </a:pPr>
            <a:r>
              <a:rPr dirty="0" sz="7050" spc="55" b="1">
                <a:solidFill>
                  <a:srgbClr val="003259"/>
                </a:solidFill>
                <a:latin typeface="Arial"/>
                <a:cs typeface="Arial"/>
              </a:rPr>
              <a:t>H</a:t>
            </a:r>
            <a:r>
              <a:rPr dirty="0" sz="7050" spc="50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7050" spc="-280" b="1">
                <a:solidFill>
                  <a:srgbClr val="003259"/>
                </a:solidFill>
                <a:latin typeface="Arial"/>
                <a:cs typeface="Arial"/>
              </a:rPr>
              <a:t>D</a:t>
            </a:r>
            <a:r>
              <a:rPr dirty="0" sz="7050" spc="-690" b="1">
                <a:solidFill>
                  <a:srgbClr val="003259"/>
                </a:solidFill>
                <a:latin typeface="Arial"/>
                <a:cs typeface="Arial"/>
              </a:rPr>
              <a:t>W</a:t>
            </a:r>
            <a:r>
              <a:rPr dirty="0" sz="7050" spc="50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7050" spc="60" b="1">
                <a:solidFill>
                  <a:srgbClr val="003259"/>
                </a:solidFill>
                <a:latin typeface="Arial"/>
                <a:cs typeface="Arial"/>
              </a:rPr>
              <a:t>E</a:t>
            </a:r>
            <a:r>
              <a:rPr dirty="0" sz="7050" spc="-509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7050" spc="145" b="1">
                <a:solidFill>
                  <a:srgbClr val="003259"/>
                </a:solidFill>
                <a:latin typeface="Arial"/>
                <a:cs typeface="Arial"/>
              </a:rPr>
              <a:t>AND</a:t>
            </a:r>
            <a:r>
              <a:rPr dirty="0" sz="7050" spc="-509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7050" spc="165" b="1">
                <a:solidFill>
                  <a:srgbClr val="003259"/>
                </a:solidFill>
                <a:latin typeface="Arial"/>
                <a:cs typeface="Arial"/>
              </a:rPr>
              <a:t>TWO-</a:t>
            </a:r>
            <a:r>
              <a:rPr dirty="0" sz="7050" spc="-490" b="1">
                <a:solidFill>
                  <a:srgbClr val="003259"/>
                </a:solidFill>
                <a:latin typeface="Arial"/>
                <a:cs typeface="Arial"/>
              </a:rPr>
              <a:t>W</a:t>
            </a:r>
            <a:r>
              <a:rPr dirty="0" sz="7050" spc="-600" b="1">
                <a:solidFill>
                  <a:srgbClr val="003259"/>
                </a:solidFill>
                <a:latin typeface="Arial"/>
                <a:cs typeface="Arial"/>
              </a:rPr>
              <a:t>A</a:t>
            </a:r>
            <a:r>
              <a:rPr dirty="0" sz="7050" spc="260" b="1">
                <a:solidFill>
                  <a:srgbClr val="003259"/>
                </a:solidFill>
                <a:latin typeface="Arial"/>
                <a:cs typeface="Arial"/>
              </a:rPr>
              <a:t>Y</a:t>
            </a:r>
            <a:r>
              <a:rPr dirty="0" sz="7050" spc="-280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7050" spc="135" b="1">
                <a:solidFill>
                  <a:srgbClr val="003259"/>
                </a:solidFill>
                <a:latin typeface="Arial"/>
                <a:cs typeface="Arial"/>
              </a:rPr>
              <a:t>C</a:t>
            </a:r>
            <a:r>
              <a:rPr dirty="0" sz="7050" spc="-70" b="1">
                <a:solidFill>
                  <a:srgbClr val="003259"/>
                </a:solidFill>
                <a:latin typeface="Arial"/>
                <a:cs typeface="Arial"/>
              </a:rPr>
              <a:t>O</a:t>
            </a:r>
            <a:r>
              <a:rPr dirty="0" sz="7050" spc="140" b="1">
                <a:solidFill>
                  <a:srgbClr val="003259"/>
                </a:solidFill>
                <a:latin typeface="Arial"/>
                <a:cs typeface="Arial"/>
              </a:rPr>
              <a:t>MMUNI</a:t>
            </a:r>
            <a:r>
              <a:rPr dirty="0" sz="7050" spc="135" b="1">
                <a:solidFill>
                  <a:srgbClr val="003259"/>
                </a:solidFill>
                <a:latin typeface="Arial"/>
                <a:cs typeface="Arial"/>
              </a:rPr>
              <a:t>C</a:t>
            </a:r>
            <a:r>
              <a:rPr dirty="0" sz="7050" spc="-500" b="1">
                <a:solidFill>
                  <a:srgbClr val="003259"/>
                </a:solidFill>
                <a:latin typeface="Arial"/>
                <a:cs typeface="Arial"/>
              </a:rPr>
              <a:t>A</a:t>
            </a:r>
            <a:r>
              <a:rPr dirty="0" sz="7050" spc="140" b="1">
                <a:solidFill>
                  <a:srgbClr val="003259"/>
                </a:solidFill>
                <a:latin typeface="Arial"/>
                <a:cs typeface="Arial"/>
              </a:rPr>
              <a:t>TIO</a:t>
            </a:r>
            <a:r>
              <a:rPr dirty="0" sz="7050" spc="145" b="1">
                <a:solidFill>
                  <a:srgbClr val="003259"/>
                </a:solidFill>
                <a:latin typeface="Arial"/>
                <a:cs typeface="Arial"/>
              </a:rPr>
              <a:t>N</a:t>
            </a:r>
            <a:endParaRPr sz="7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000" spc="-70" b="1">
                <a:latin typeface="Times New Roman"/>
                <a:cs typeface="Times New Roman"/>
              </a:rPr>
              <a:t>Communication </a:t>
            </a:r>
            <a:r>
              <a:rPr dirty="0" sz="3000" spc="-80" b="1">
                <a:latin typeface="Times New Roman"/>
                <a:cs typeface="Times New Roman"/>
              </a:rPr>
              <a:t>between</a:t>
            </a:r>
            <a:r>
              <a:rPr dirty="0" sz="3000" spc="-55" b="1">
                <a:latin typeface="Times New Roman"/>
                <a:cs typeface="Times New Roman"/>
              </a:rPr>
              <a:t> </a:t>
            </a:r>
            <a:r>
              <a:rPr dirty="0" sz="3000" spc="-145" b="1">
                <a:latin typeface="Times New Roman"/>
                <a:cs typeface="Times New Roman"/>
              </a:rPr>
              <a:t>hardware</a:t>
            </a:r>
            <a:r>
              <a:rPr dirty="0" sz="3000" spc="-40" b="1">
                <a:latin typeface="Times New Roman"/>
                <a:cs typeface="Times New Roman"/>
              </a:rPr>
              <a:t> </a:t>
            </a:r>
            <a:r>
              <a:rPr dirty="0" sz="3000" spc="-75" b="1">
                <a:latin typeface="Times New Roman"/>
                <a:cs typeface="Times New Roman"/>
              </a:rPr>
              <a:t>and</a:t>
            </a:r>
            <a:r>
              <a:rPr dirty="0" sz="3000" spc="-55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software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0094389" y="488372"/>
            <a:ext cx="824230" cy="9836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 b="1">
                <a:latin typeface="Times New Roman"/>
                <a:cs typeface="Times New Roman"/>
              </a:rPr>
              <a:t>04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10621" y="4232747"/>
            <a:ext cx="6927850" cy="145415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 marR="10795">
              <a:lnSpc>
                <a:spcPct val="100000"/>
              </a:lnSpc>
              <a:spcBef>
                <a:spcPts val="580"/>
              </a:spcBef>
            </a:pPr>
            <a:r>
              <a:rPr dirty="0" sz="2900" spc="-25" b="1">
                <a:latin typeface="Arial"/>
                <a:cs typeface="Arial"/>
              </a:rPr>
              <a:t>SYSTEM</a:t>
            </a:r>
            <a:r>
              <a:rPr dirty="0" sz="2900" spc="-195" b="1">
                <a:latin typeface="Arial"/>
                <a:cs typeface="Arial"/>
              </a:rPr>
              <a:t> </a:t>
            </a:r>
            <a:r>
              <a:rPr dirty="0" sz="2900" spc="-20" b="1">
                <a:latin typeface="Arial"/>
                <a:cs typeface="Arial"/>
              </a:rPr>
              <a:t>FLOW</a:t>
            </a:r>
            <a:endParaRPr sz="2900">
              <a:latin typeface="Arial"/>
              <a:cs typeface="Arial"/>
            </a:endParaRPr>
          </a:p>
          <a:p>
            <a:pPr algn="ctr" marL="12065" marR="5080">
              <a:lnSpc>
                <a:spcPct val="112900"/>
              </a:lnSpc>
              <a:spcBef>
                <a:spcPts val="70"/>
              </a:spcBef>
            </a:pPr>
            <a:r>
              <a:rPr dirty="0" sz="2550">
                <a:latin typeface="Arial"/>
                <a:cs typeface="Arial"/>
              </a:rPr>
              <a:t>NODEMCU</a:t>
            </a:r>
            <a:r>
              <a:rPr dirty="0" sz="2550" spc="-135">
                <a:latin typeface="Arial"/>
                <a:cs typeface="Arial"/>
              </a:rPr>
              <a:t> </a:t>
            </a:r>
            <a:r>
              <a:rPr dirty="0" sz="2750" spc="125">
                <a:latin typeface="Lucida Sans Unicode"/>
                <a:cs typeface="Lucida Sans Unicode"/>
              </a:rPr>
              <a:t>⇄</a:t>
            </a:r>
            <a:r>
              <a:rPr dirty="0" sz="2750" spc="-459">
                <a:latin typeface="Lucida Sans Unicode"/>
                <a:cs typeface="Lucida Sans Unicode"/>
              </a:rPr>
              <a:t> </a:t>
            </a:r>
            <a:r>
              <a:rPr dirty="0" sz="2550" spc="120">
                <a:latin typeface="Arial"/>
                <a:cs typeface="Arial"/>
              </a:rPr>
              <a:t>WI-</a:t>
            </a:r>
            <a:r>
              <a:rPr dirty="0" sz="2550">
                <a:latin typeface="Arial"/>
                <a:cs typeface="Arial"/>
              </a:rPr>
              <a:t>FI</a:t>
            </a:r>
            <a:r>
              <a:rPr dirty="0" sz="2550" spc="-130">
                <a:latin typeface="Arial"/>
                <a:cs typeface="Arial"/>
              </a:rPr>
              <a:t> </a:t>
            </a:r>
            <a:r>
              <a:rPr dirty="0" sz="2750" spc="125">
                <a:latin typeface="Lucida Sans Unicode"/>
                <a:cs typeface="Lucida Sans Unicode"/>
              </a:rPr>
              <a:t>⇄</a:t>
            </a:r>
            <a:r>
              <a:rPr dirty="0" sz="2750" spc="-459">
                <a:latin typeface="Lucida Sans Unicode"/>
                <a:cs typeface="Lucida Sans Unicode"/>
              </a:rPr>
              <a:t> </a:t>
            </a:r>
            <a:r>
              <a:rPr dirty="0" sz="2550">
                <a:latin typeface="Arial"/>
                <a:cs typeface="Arial"/>
              </a:rPr>
              <a:t>PYTHON</a:t>
            </a:r>
            <a:r>
              <a:rPr dirty="0" sz="2550" spc="-1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BACKEND</a:t>
            </a:r>
            <a:r>
              <a:rPr dirty="0" sz="2550" spc="-130">
                <a:latin typeface="Arial"/>
                <a:cs typeface="Arial"/>
              </a:rPr>
              <a:t> </a:t>
            </a:r>
            <a:r>
              <a:rPr dirty="0" sz="2750" spc="75">
                <a:latin typeface="Lucida Sans Unicode"/>
                <a:cs typeface="Lucida Sans Unicode"/>
              </a:rPr>
              <a:t>⇄ </a:t>
            </a:r>
            <a:r>
              <a:rPr dirty="0" sz="2550" spc="-65">
                <a:latin typeface="Arial"/>
                <a:cs typeface="Arial"/>
              </a:rPr>
              <a:t>DATABASE</a:t>
            </a:r>
            <a:r>
              <a:rPr dirty="0" sz="2550" spc="-165">
                <a:latin typeface="Arial"/>
                <a:cs typeface="Arial"/>
              </a:rPr>
              <a:t> </a:t>
            </a:r>
            <a:r>
              <a:rPr dirty="0" sz="2550" spc="85">
                <a:latin typeface="Arial"/>
                <a:cs typeface="Arial"/>
              </a:rPr>
              <a:t>AND</a:t>
            </a:r>
            <a:r>
              <a:rPr dirty="0" sz="2550" spc="-16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DASHBOARD</a:t>
            </a:r>
            <a:endParaRPr sz="2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25181" y="6108553"/>
            <a:ext cx="7143115" cy="315912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algn="ctr" marL="135890">
              <a:lnSpc>
                <a:spcPct val="100000"/>
              </a:lnSpc>
              <a:spcBef>
                <a:spcPts val="560"/>
              </a:spcBef>
            </a:pPr>
            <a:r>
              <a:rPr dirty="0" sz="2550" spc="-70" b="1">
                <a:latin typeface="Arial"/>
                <a:cs typeface="Arial"/>
              </a:rPr>
              <a:t>BED</a:t>
            </a:r>
            <a:r>
              <a:rPr dirty="0" sz="2550" spc="-180" b="1">
                <a:latin typeface="Arial"/>
                <a:cs typeface="Arial"/>
              </a:rPr>
              <a:t> </a:t>
            </a:r>
            <a:r>
              <a:rPr dirty="0" sz="2550" spc="-10" b="1">
                <a:latin typeface="Arial"/>
                <a:cs typeface="Arial"/>
              </a:rPr>
              <a:t>CONFIGURATION</a:t>
            </a:r>
            <a:endParaRPr sz="2550">
              <a:latin typeface="Arial"/>
              <a:cs typeface="Arial"/>
            </a:endParaRPr>
          </a:p>
          <a:p>
            <a:pPr algn="ctr" marL="407670" marR="263525">
              <a:lnSpc>
                <a:spcPct val="115199"/>
              </a:lnSpc>
            </a:pPr>
            <a:r>
              <a:rPr dirty="0" sz="2550" spc="-140">
                <a:latin typeface="Arial"/>
                <a:cs typeface="Arial"/>
              </a:rPr>
              <a:t>B01:</a:t>
            </a:r>
            <a:r>
              <a:rPr dirty="0" sz="2550" spc="-15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PHYSICAL</a:t>
            </a:r>
            <a:r>
              <a:rPr dirty="0" sz="2550" spc="-155">
                <a:latin typeface="Arial"/>
                <a:cs typeface="Arial"/>
              </a:rPr>
              <a:t> </a:t>
            </a:r>
            <a:r>
              <a:rPr dirty="0" sz="2550" spc="-20">
                <a:latin typeface="Arial"/>
                <a:cs typeface="Arial"/>
              </a:rPr>
              <a:t>HARDWARE</a:t>
            </a:r>
            <a:r>
              <a:rPr dirty="0" sz="2550" spc="-15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MONITORING UNIT.</a:t>
            </a:r>
            <a:endParaRPr sz="2550">
              <a:latin typeface="Arial"/>
              <a:cs typeface="Arial"/>
            </a:endParaRPr>
          </a:p>
          <a:p>
            <a:pPr algn="ctr" marL="349250" marR="204470">
              <a:lnSpc>
                <a:spcPct val="115199"/>
              </a:lnSpc>
            </a:pPr>
            <a:r>
              <a:rPr dirty="0" sz="2550" spc="-10">
                <a:latin typeface="Arial"/>
                <a:cs typeface="Arial"/>
              </a:rPr>
              <a:t>B02,</a:t>
            </a:r>
            <a:r>
              <a:rPr dirty="0" sz="2550" spc="-12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B03,</a:t>
            </a:r>
            <a:r>
              <a:rPr dirty="0" sz="2550" spc="-12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B04:</a:t>
            </a:r>
            <a:r>
              <a:rPr dirty="0" sz="2550" spc="-114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SIMULATED</a:t>
            </a:r>
            <a:r>
              <a:rPr dirty="0" sz="2550" spc="-125">
                <a:latin typeface="Arial"/>
                <a:cs typeface="Arial"/>
              </a:rPr>
              <a:t> </a:t>
            </a:r>
            <a:r>
              <a:rPr dirty="0" sz="2550" spc="-20">
                <a:latin typeface="Arial"/>
                <a:cs typeface="Arial"/>
              </a:rPr>
              <a:t>READINGS</a:t>
            </a:r>
            <a:r>
              <a:rPr dirty="0" sz="2550" spc="-125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FOR </a:t>
            </a:r>
            <a:r>
              <a:rPr dirty="0" sz="2550" spc="-10">
                <a:latin typeface="Arial"/>
                <a:cs typeface="Arial"/>
              </a:rPr>
              <a:t>DEMONSTRATION.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15199"/>
              </a:lnSpc>
            </a:pPr>
            <a:r>
              <a:rPr dirty="0" sz="2550" spc="-20">
                <a:latin typeface="Arial"/>
                <a:cs typeface="Arial"/>
              </a:rPr>
              <a:t>EACH</a:t>
            </a:r>
            <a:r>
              <a:rPr dirty="0" sz="2550" spc="-160">
                <a:latin typeface="Arial"/>
                <a:cs typeface="Arial"/>
              </a:rPr>
              <a:t> </a:t>
            </a:r>
            <a:r>
              <a:rPr dirty="0" sz="2550" spc="65">
                <a:latin typeface="Arial"/>
                <a:cs typeface="Arial"/>
              </a:rPr>
              <a:t>ADDITIONAL</a:t>
            </a:r>
            <a:r>
              <a:rPr dirty="0" sz="2550" spc="-16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PHYSICAL</a:t>
            </a:r>
            <a:r>
              <a:rPr dirty="0" sz="2550" spc="-155">
                <a:latin typeface="Arial"/>
                <a:cs typeface="Arial"/>
              </a:rPr>
              <a:t> </a:t>
            </a:r>
            <a:r>
              <a:rPr dirty="0" sz="2550" spc="-50">
                <a:latin typeface="Arial"/>
                <a:cs typeface="Arial"/>
              </a:rPr>
              <a:t>BED</a:t>
            </a:r>
            <a:r>
              <a:rPr dirty="0" sz="2550" spc="-160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REQUIRES </a:t>
            </a:r>
            <a:r>
              <a:rPr dirty="0" sz="2550" spc="-10">
                <a:latin typeface="Arial"/>
                <a:cs typeface="Arial"/>
              </a:rPr>
              <a:t>ITS</a:t>
            </a:r>
            <a:r>
              <a:rPr dirty="0" sz="2550" spc="-110">
                <a:latin typeface="Arial"/>
                <a:cs typeface="Arial"/>
              </a:rPr>
              <a:t> </a:t>
            </a:r>
            <a:r>
              <a:rPr dirty="0" sz="2550" spc="70">
                <a:latin typeface="Arial"/>
                <a:cs typeface="Arial"/>
              </a:rPr>
              <a:t>OWN</a:t>
            </a:r>
            <a:r>
              <a:rPr dirty="0" sz="2550" spc="-10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MONITORING</a:t>
            </a:r>
            <a:r>
              <a:rPr dirty="0" sz="2550" spc="-10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UNIT.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575" y="4043151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575" y="4614651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575" y="5757651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575" y="6329151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575" y="6900651"/>
            <a:ext cx="95250" cy="952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45726" y="3112527"/>
            <a:ext cx="7625080" cy="459740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3200" spc="-40" b="1">
                <a:latin typeface="Times New Roman"/>
                <a:cs typeface="Times New Roman"/>
              </a:rPr>
              <a:t>Testing</a:t>
            </a:r>
            <a:r>
              <a:rPr dirty="0" sz="3200" spc="-155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performed</a:t>
            </a:r>
            <a:endParaRPr sz="3200">
              <a:latin typeface="Times New Roman"/>
              <a:cs typeface="Times New Roman"/>
            </a:endParaRPr>
          </a:p>
          <a:p>
            <a:pPr marL="711200" marR="52705">
              <a:lnSpc>
                <a:spcPct val="117200"/>
              </a:lnSpc>
            </a:pPr>
            <a:r>
              <a:rPr dirty="0" sz="3200" spc="254">
                <a:latin typeface="Times New Roman"/>
                <a:cs typeface="Times New Roman"/>
              </a:rPr>
              <a:t>IR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sensor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70">
                <a:latin typeface="Times New Roman"/>
                <a:cs typeface="Times New Roman"/>
              </a:rPr>
              <a:t>drop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detection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counting. </a:t>
            </a:r>
            <a:r>
              <a:rPr dirty="0" sz="3200" spc="215">
                <a:latin typeface="Times New Roman"/>
                <a:cs typeface="Times New Roman"/>
              </a:rPr>
              <a:t>NodeMCU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145">
                <a:latin typeface="Times New Roman"/>
                <a:cs typeface="Times New Roman"/>
              </a:rPr>
              <a:t>startup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Wi-</a:t>
            </a:r>
            <a:r>
              <a:rPr dirty="0" sz="3200" spc="150">
                <a:latin typeface="Times New Roman"/>
                <a:cs typeface="Times New Roman"/>
              </a:rPr>
              <a:t>Fi </a:t>
            </a:r>
            <a:r>
              <a:rPr dirty="0" sz="3200" spc="55">
                <a:latin typeface="Times New Roman"/>
                <a:cs typeface="Times New Roman"/>
              </a:rPr>
              <a:t>connectivity.</a:t>
            </a:r>
            <a:endParaRPr sz="3200">
              <a:latin typeface="Times New Roman"/>
              <a:cs typeface="Times New Roman"/>
            </a:endParaRPr>
          </a:p>
          <a:p>
            <a:pPr marL="711200" marR="2354580">
              <a:lnSpc>
                <a:spcPct val="117200"/>
              </a:lnSpc>
            </a:pPr>
            <a:r>
              <a:rPr dirty="0" sz="3200" spc="240">
                <a:latin typeface="Times New Roman"/>
                <a:cs typeface="Times New Roman"/>
              </a:rPr>
              <a:t>LED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status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indication. </a:t>
            </a:r>
            <a:r>
              <a:rPr dirty="0" sz="3200">
                <a:latin typeface="Times New Roman"/>
                <a:cs typeface="Times New Roman"/>
              </a:rPr>
              <a:t>Buzzer</a:t>
            </a:r>
            <a:r>
              <a:rPr dirty="0" sz="3200" spc="14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alert</a:t>
            </a:r>
            <a:r>
              <a:rPr dirty="0" sz="3200" spc="15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functionality.</a:t>
            </a:r>
            <a:endParaRPr sz="3200">
              <a:latin typeface="Times New Roman"/>
              <a:cs typeface="Times New Roman"/>
            </a:endParaRPr>
          </a:p>
          <a:p>
            <a:pPr marL="711200" marR="5080">
              <a:lnSpc>
                <a:spcPct val="117200"/>
              </a:lnSpc>
            </a:pPr>
            <a:r>
              <a:rPr dirty="0" sz="3200" spc="125">
                <a:latin typeface="Times New Roman"/>
                <a:cs typeface="Times New Roman"/>
              </a:rPr>
              <a:t>Communication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between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hardware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50">
                <a:latin typeface="Times New Roman"/>
                <a:cs typeface="Times New Roman"/>
              </a:rPr>
              <a:t>and </a:t>
            </a:r>
            <a:r>
              <a:rPr dirty="0" sz="3200" spc="130">
                <a:latin typeface="Times New Roman"/>
                <a:cs typeface="Times New Roman"/>
              </a:rPr>
              <a:t>dashboard.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87552" y="907946"/>
            <a:ext cx="2200448" cy="57741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66968" y="1419107"/>
            <a:ext cx="16137890" cy="1010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450" spc="50" b="1">
                <a:solidFill>
                  <a:srgbClr val="003259"/>
                </a:solidFill>
                <a:latin typeface="Arial"/>
                <a:cs typeface="Arial"/>
              </a:rPr>
              <a:t>H</a:t>
            </a:r>
            <a:r>
              <a:rPr dirty="0" sz="6450" spc="45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6450" spc="-254" b="1">
                <a:solidFill>
                  <a:srgbClr val="003259"/>
                </a:solidFill>
                <a:latin typeface="Arial"/>
                <a:cs typeface="Arial"/>
              </a:rPr>
              <a:t>D</a:t>
            </a:r>
            <a:r>
              <a:rPr dirty="0" sz="6450" spc="-630" b="1">
                <a:solidFill>
                  <a:srgbClr val="003259"/>
                </a:solidFill>
                <a:latin typeface="Arial"/>
                <a:cs typeface="Arial"/>
              </a:rPr>
              <a:t>W</a:t>
            </a:r>
            <a:r>
              <a:rPr dirty="0" sz="6450" spc="45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6450" spc="55" b="1">
                <a:solidFill>
                  <a:srgbClr val="003259"/>
                </a:solidFill>
                <a:latin typeface="Arial"/>
                <a:cs typeface="Arial"/>
              </a:rPr>
              <a:t>E</a:t>
            </a:r>
            <a:r>
              <a:rPr dirty="0" sz="6450" spc="-484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450" spc="45" b="1">
                <a:solidFill>
                  <a:srgbClr val="003259"/>
                </a:solidFill>
                <a:latin typeface="Arial"/>
                <a:cs typeface="Arial"/>
              </a:rPr>
              <a:t>TESTING</a:t>
            </a:r>
            <a:r>
              <a:rPr dirty="0" sz="6450" spc="-484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450" spc="135" b="1">
                <a:solidFill>
                  <a:srgbClr val="003259"/>
                </a:solidFill>
                <a:latin typeface="Arial"/>
                <a:cs typeface="Arial"/>
              </a:rPr>
              <a:t>AND</a:t>
            </a:r>
            <a:r>
              <a:rPr dirty="0" sz="6450" spc="-484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450" spc="120" b="1">
                <a:solidFill>
                  <a:srgbClr val="003259"/>
                </a:solidFill>
                <a:latin typeface="Arial"/>
                <a:cs typeface="Arial"/>
              </a:rPr>
              <a:t>L</a:t>
            </a:r>
            <a:r>
              <a:rPr dirty="0" sz="6450" spc="125" b="1">
                <a:solidFill>
                  <a:srgbClr val="003259"/>
                </a:solidFill>
                <a:latin typeface="Arial"/>
                <a:cs typeface="Arial"/>
              </a:rPr>
              <a:t>IMI</a:t>
            </a:r>
            <a:r>
              <a:rPr dirty="0" sz="6450" spc="-240" b="1">
                <a:solidFill>
                  <a:srgbClr val="003259"/>
                </a:solidFill>
                <a:latin typeface="Arial"/>
                <a:cs typeface="Arial"/>
              </a:rPr>
              <a:t>T</a:t>
            </a:r>
            <a:r>
              <a:rPr dirty="0" sz="6450" spc="-465" b="1">
                <a:solidFill>
                  <a:srgbClr val="003259"/>
                </a:solidFill>
                <a:latin typeface="Arial"/>
                <a:cs typeface="Arial"/>
              </a:rPr>
              <a:t>A</a:t>
            </a:r>
            <a:r>
              <a:rPr dirty="0" sz="6450" spc="125" b="1">
                <a:solidFill>
                  <a:srgbClr val="003259"/>
                </a:solidFill>
                <a:latin typeface="Arial"/>
                <a:cs typeface="Arial"/>
              </a:rPr>
              <a:t>TION</a:t>
            </a:r>
            <a:r>
              <a:rPr dirty="0" sz="6450" spc="130" b="1">
                <a:solidFill>
                  <a:srgbClr val="003259"/>
                </a:solidFill>
                <a:latin typeface="Arial"/>
                <a:cs typeface="Arial"/>
              </a:rPr>
              <a:t>S</a:t>
            </a:r>
            <a:endParaRPr sz="645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0094394" y="490062"/>
            <a:ext cx="824230" cy="9836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 b="1">
                <a:latin typeface="Times New Roman"/>
                <a:cs typeface="Times New Roman"/>
              </a:rPr>
              <a:t>05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74743" y="3999458"/>
            <a:ext cx="89697" cy="8969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74743" y="5075823"/>
            <a:ext cx="89697" cy="8969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74743" y="6152187"/>
            <a:ext cx="89697" cy="8969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74743" y="7228551"/>
            <a:ext cx="89697" cy="896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749437" y="3122348"/>
            <a:ext cx="7435850" cy="48691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3050" spc="-125" b="1">
                <a:latin typeface="Times New Roman"/>
                <a:cs typeface="Times New Roman"/>
              </a:rPr>
              <a:t>Current</a:t>
            </a:r>
            <a:r>
              <a:rPr dirty="0" sz="3050" spc="-25" b="1">
                <a:latin typeface="Times New Roman"/>
                <a:cs typeface="Times New Roman"/>
              </a:rPr>
              <a:t> </a:t>
            </a:r>
            <a:r>
              <a:rPr dirty="0" sz="3050" spc="-10" b="1">
                <a:latin typeface="Times New Roman"/>
                <a:cs typeface="Times New Roman"/>
              </a:rPr>
              <a:t>limitations</a:t>
            </a:r>
            <a:endParaRPr sz="3050">
              <a:latin typeface="Times New Roman"/>
              <a:cs typeface="Times New Roman"/>
            </a:endParaRPr>
          </a:p>
          <a:p>
            <a:pPr marL="670560" marR="891540">
              <a:lnSpc>
                <a:spcPct val="115799"/>
              </a:lnSpc>
            </a:pPr>
            <a:r>
              <a:rPr dirty="0" sz="3050" spc="55">
                <a:latin typeface="Times New Roman"/>
                <a:cs typeface="Times New Roman"/>
              </a:rPr>
              <a:t>Sensor</a:t>
            </a:r>
            <a:r>
              <a:rPr dirty="0" sz="3050" spc="5">
                <a:latin typeface="Times New Roman"/>
                <a:cs typeface="Times New Roman"/>
              </a:rPr>
              <a:t> </a:t>
            </a:r>
            <a:r>
              <a:rPr dirty="0" sz="3050" spc="60">
                <a:latin typeface="Times New Roman"/>
                <a:cs typeface="Times New Roman"/>
              </a:rPr>
              <a:t>accuracy</a:t>
            </a:r>
            <a:r>
              <a:rPr dirty="0" sz="3050" spc="5">
                <a:latin typeface="Times New Roman"/>
                <a:cs typeface="Times New Roman"/>
              </a:rPr>
              <a:t> </a:t>
            </a:r>
            <a:r>
              <a:rPr dirty="0" sz="3050" spc="70">
                <a:latin typeface="Times New Roman"/>
                <a:cs typeface="Times New Roman"/>
              </a:rPr>
              <a:t>depends</a:t>
            </a:r>
            <a:r>
              <a:rPr dirty="0" sz="3050" spc="5">
                <a:latin typeface="Times New Roman"/>
                <a:cs typeface="Times New Roman"/>
              </a:rPr>
              <a:t> </a:t>
            </a:r>
            <a:r>
              <a:rPr dirty="0" sz="3050" spc="150">
                <a:latin typeface="Times New Roman"/>
                <a:cs typeface="Times New Roman"/>
              </a:rPr>
              <a:t>on</a:t>
            </a:r>
            <a:r>
              <a:rPr dirty="0" sz="3050" spc="10">
                <a:latin typeface="Times New Roman"/>
                <a:cs typeface="Times New Roman"/>
              </a:rPr>
              <a:t> </a:t>
            </a:r>
            <a:r>
              <a:rPr dirty="0" sz="3050" spc="60">
                <a:latin typeface="Times New Roman"/>
                <a:cs typeface="Times New Roman"/>
              </a:rPr>
              <a:t>correct </a:t>
            </a:r>
            <a:r>
              <a:rPr dirty="0" sz="3050" spc="65">
                <a:latin typeface="Times New Roman"/>
                <a:cs typeface="Times New Roman"/>
              </a:rPr>
              <a:t>positioning</a:t>
            </a:r>
            <a:r>
              <a:rPr dirty="0" sz="3050" spc="15">
                <a:latin typeface="Times New Roman"/>
                <a:cs typeface="Times New Roman"/>
              </a:rPr>
              <a:t> </a:t>
            </a:r>
            <a:r>
              <a:rPr dirty="0" sz="3050" spc="150">
                <a:latin typeface="Times New Roman"/>
                <a:cs typeface="Times New Roman"/>
              </a:rPr>
              <a:t>and</a:t>
            </a:r>
            <a:r>
              <a:rPr dirty="0" sz="3050" spc="15">
                <a:latin typeface="Times New Roman"/>
                <a:cs typeface="Times New Roman"/>
              </a:rPr>
              <a:t> </a:t>
            </a:r>
            <a:r>
              <a:rPr dirty="0" sz="3050" spc="145">
                <a:latin typeface="Times New Roman"/>
                <a:cs typeface="Times New Roman"/>
              </a:rPr>
              <a:t>drop</a:t>
            </a:r>
            <a:r>
              <a:rPr dirty="0" sz="3050" spc="15">
                <a:latin typeface="Times New Roman"/>
                <a:cs typeface="Times New Roman"/>
              </a:rPr>
              <a:t> </a:t>
            </a:r>
            <a:r>
              <a:rPr dirty="0" sz="3050" spc="55">
                <a:latin typeface="Times New Roman"/>
                <a:cs typeface="Times New Roman"/>
              </a:rPr>
              <a:t>detection.</a:t>
            </a:r>
            <a:endParaRPr sz="3050">
              <a:latin typeface="Times New Roman"/>
              <a:cs typeface="Times New Roman"/>
            </a:endParaRPr>
          </a:p>
          <a:p>
            <a:pPr marL="670560" marR="1710689">
              <a:lnSpc>
                <a:spcPct val="115799"/>
              </a:lnSpc>
            </a:pPr>
            <a:r>
              <a:rPr dirty="0" sz="3050">
                <a:latin typeface="Times New Roman"/>
                <a:cs typeface="Times New Roman"/>
              </a:rPr>
              <a:t>Wi-</a:t>
            </a:r>
            <a:r>
              <a:rPr dirty="0" sz="3050" spc="145">
                <a:latin typeface="Times New Roman"/>
                <a:cs typeface="Times New Roman"/>
              </a:rPr>
              <a:t>Fi</a:t>
            </a:r>
            <a:r>
              <a:rPr dirty="0" sz="3050" spc="30">
                <a:latin typeface="Times New Roman"/>
                <a:cs typeface="Times New Roman"/>
              </a:rPr>
              <a:t> </a:t>
            </a:r>
            <a:r>
              <a:rPr dirty="0" sz="3050" spc="90">
                <a:latin typeface="Times New Roman"/>
                <a:cs typeface="Times New Roman"/>
              </a:rPr>
              <a:t>interruptions</a:t>
            </a:r>
            <a:r>
              <a:rPr dirty="0" sz="3050" spc="40">
                <a:latin typeface="Times New Roman"/>
                <a:cs typeface="Times New Roman"/>
              </a:rPr>
              <a:t> </a:t>
            </a:r>
            <a:r>
              <a:rPr dirty="0" sz="3050" spc="85">
                <a:latin typeface="Times New Roman"/>
                <a:cs typeface="Times New Roman"/>
              </a:rPr>
              <a:t>may</a:t>
            </a:r>
            <a:r>
              <a:rPr dirty="0" sz="3050" spc="40">
                <a:latin typeface="Times New Roman"/>
                <a:cs typeface="Times New Roman"/>
              </a:rPr>
              <a:t> </a:t>
            </a:r>
            <a:r>
              <a:rPr dirty="0" sz="3050" spc="-10">
                <a:latin typeface="Times New Roman"/>
                <a:cs typeface="Times New Roman"/>
              </a:rPr>
              <a:t>affect </a:t>
            </a:r>
            <a:r>
              <a:rPr dirty="0" sz="3050" spc="75">
                <a:latin typeface="Times New Roman"/>
                <a:cs typeface="Times New Roman"/>
              </a:rPr>
              <a:t>communication.</a:t>
            </a:r>
            <a:endParaRPr sz="3050">
              <a:latin typeface="Times New Roman"/>
              <a:cs typeface="Times New Roman"/>
            </a:endParaRPr>
          </a:p>
          <a:p>
            <a:pPr marL="670560" marR="5080">
              <a:lnSpc>
                <a:spcPct val="115799"/>
              </a:lnSpc>
            </a:pPr>
            <a:r>
              <a:rPr dirty="0" sz="3050" spc="75">
                <a:latin typeface="Times New Roman"/>
                <a:cs typeface="Times New Roman"/>
              </a:rPr>
              <a:t>Multiple</a:t>
            </a:r>
            <a:r>
              <a:rPr dirty="0" sz="3050" spc="80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physical</a:t>
            </a:r>
            <a:r>
              <a:rPr dirty="0" sz="3050" spc="85">
                <a:latin typeface="Times New Roman"/>
                <a:cs typeface="Times New Roman"/>
              </a:rPr>
              <a:t> </a:t>
            </a:r>
            <a:r>
              <a:rPr dirty="0" sz="3050" spc="55">
                <a:latin typeface="Times New Roman"/>
                <a:cs typeface="Times New Roman"/>
              </a:rPr>
              <a:t>beds</a:t>
            </a:r>
            <a:r>
              <a:rPr dirty="0" sz="3050" spc="85">
                <a:latin typeface="Times New Roman"/>
                <a:cs typeface="Times New Roman"/>
              </a:rPr>
              <a:t> </a:t>
            </a:r>
            <a:r>
              <a:rPr dirty="0" sz="3050" spc="70">
                <a:latin typeface="Times New Roman"/>
                <a:cs typeface="Times New Roman"/>
              </a:rPr>
              <a:t>require</a:t>
            </a:r>
            <a:r>
              <a:rPr dirty="0" sz="3050" spc="90">
                <a:latin typeface="Times New Roman"/>
                <a:cs typeface="Times New Roman"/>
              </a:rPr>
              <a:t> </a:t>
            </a:r>
            <a:r>
              <a:rPr dirty="0" sz="3050" spc="85">
                <a:latin typeface="Times New Roman"/>
                <a:cs typeface="Times New Roman"/>
              </a:rPr>
              <a:t>additional </a:t>
            </a:r>
            <a:r>
              <a:rPr dirty="0" sz="3050" spc="90">
                <a:latin typeface="Times New Roman"/>
                <a:cs typeface="Times New Roman"/>
              </a:rPr>
              <a:t>hardware.</a:t>
            </a:r>
            <a:endParaRPr sz="3050">
              <a:latin typeface="Times New Roman"/>
              <a:cs typeface="Times New Roman"/>
            </a:endParaRPr>
          </a:p>
          <a:p>
            <a:pPr marL="670560" marR="97790">
              <a:lnSpc>
                <a:spcPct val="115799"/>
              </a:lnSpc>
            </a:pPr>
            <a:r>
              <a:rPr dirty="0" sz="3050" spc="75">
                <a:latin typeface="Times New Roman"/>
                <a:cs typeface="Times New Roman"/>
              </a:rPr>
              <a:t>Prediction</a:t>
            </a:r>
            <a:r>
              <a:rPr dirty="0" sz="3050" spc="5">
                <a:latin typeface="Times New Roman"/>
                <a:cs typeface="Times New Roman"/>
              </a:rPr>
              <a:t> </a:t>
            </a:r>
            <a:r>
              <a:rPr dirty="0" sz="3050" spc="150">
                <a:latin typeface="Times New Roman"/>
                <a:cs typeface="Times New Roman"/>
              </a:rPr>
              <a:t>and</a:t>
            </a:r>
            <a:r>
              <a:rPr dirty="0" sz="3050" spc="10">
                <a:latin typeface="Times New Roman"/>
                <a:cs typeface="Times New Roman"/>
              </a:rPr>
              <a:t> </a:t>
            </a:r>
            <a:r>
              <a:rPr dirty="0" sz="3050" spc="80">
                <a:latin typeface="Times New Roman"/>
                <a:cs typeface="Times New Roman"/>
              </a:rPr>
              <a:t>alert</a:t>
            </a:r>
            <a:r>
              <a:rPr dirty="0" sz="3050" spc="5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logic</a:t>
            </a:r>
            <a:r>
              <a:rPr dirty="0" sz="3050" spc="10">
                <a:latin typeface="Times New Roman"/>
                <a:cs typeface="Times New Roman"/>
              </a:rPr>
              <a:t> </a:t>
            </a:r>
            <a:r>
              <a:rPr dirty="0" sz="3050" spc="70">
                <a:latin typeface="Times New Roman"/>
                <a:cs typeface="Times New Roman"/>
              </a:rPr>
              <a:t>require</a:t>
            </a:r>
            <a:r>
              <a:rPr dirty="0" sz="3050" spc="10">
                <a:latin typeface="Times New Roman"/>
                <a:cs typeface="Times New Roman"/>
              </a:rPr>
              <a:t> </a:t>
            </a:r>
            <a:r>
              <a:rPr dirty="0" sz="3050" spc="90">
                <a:latin typeface="Times New Roman"/>
                <a:cs typeface="Times New Roman"/>
              </a:rPr>
              <a:t>further </a:t>
            </a:r>
            <a:r>
              <a:rPr dirty="0" sz="3050" spc="40">
                <a:latin typeface="Times New Roman"/>
                <a:cs typeface="Times New Roman"/>
              </a:rPr>
              <a:t>testing.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90064" y="8459769"/>
            <a:ext cx="13230860" cy="116840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3200" spc="-85" b="1">
                <a:latin typeface="Times New Roman"/>
                <a:cs typeface="Times New Roman"/>
              </a:rPr>
              <a:t>Future </a:t>
            </a:r>
            <a:r>
              <a:rPr dirty="0" sz="3200" spc="-35" b="1">
                <a:latin typeface="Times New Roman"/>
                <a:cs typeface="Times New Roman"/>
              </a:rPr>
              <a:t>improvements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3200" spc="120">
                <a:latin typeface="Times New Roman"/>
                <a:cs typeface="Times New Roman"/>
              </a:rPr>
              <a:t>Improve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sensor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accuracy,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communication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reliability,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system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validation.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3450" y="0"/>
            <a:ext cx="7334548" cy="52728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20837" y="1369403"/>
            <a:ext cx="14088744" cy="1256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50" spc="-30" b="1">
                <a:solidFill>
                  <a:srgbClr val="003259"/>
                </a:solidFill>
                <a:latin typeface="Arial"/>
                <a:cs typeface="Arial"/>
              </a:rPr>
              <a:t>S</a:t>
            </a:r>
            <a:r>
              <a:rPr dirty="0" sz="8050" spc="-25" b="1">
                <a:solidFill>
                  <a:srgbClr val="003259"/>
                </a:solidFill>
                <a:latin typeface="Arial"/>
                <a:cs typeface="Arial"/>
              </a:rPr>
              <a:t>O</a:t>
            </a:r>
            <a:r>
              <a:rPr dirty="0" sz="8050" spc="-30" b="1">
                <a:solidFill>
                  <a:srgbClr val="003259"/>
                </a:solidFill>
                <a:latin typeface="Arial"/>
                <a:cs typeface="Arial"/>
              </a:rPr>
              <a:t>F</a:t>
            </a:r>
            <a:r>
              <a:rPr dirty="0" sz="8050" spc="-25" b="1">
                <a:solidFill>
                  <a:srgbClr val="003259"/>
                </a:solidFill>
                <a:latin typeface="Arial"/>
                <a:cs typeface="Arial"/>
              </a:rPr>
              <a:t>T</a:t>
            </a:r>
            <a:r>
              <a:rPr dirty="0" sz="8050" spc="-875" b="1">
                <a:solidFill>
                  <a:srgbClr val="003259"/>
                </a:solidFill>
                <a:latin typeface="Arial"/>
                <a:cs typeface="Arial"/>
              </a:rPr>
              <a:t>W</a:t>
            </a:r>
            <a:r>
              <a:rPr dirty="0" sz="8050" spc="-30" b="1">
                <a:solidFill>
                  <a:srgbClr val="003259"/>
                </a:solidFill>
                <a:latin typeface="Arial"/>
                <a:cs typeface="Arial"/>
              </a:rPr>
              <a:t>AR</a:t>
            </a:r>
            <a:r>
              <a:rPr dirty="0" sz="8050" spc="-20" b="1">
                <a:solidFill>
                  <a:srgbClr val="003259"/>
                </a:solidFill>
                <a:latin typeface="Arial"/>
                <a:cs typeface="Arial"/>
              </a:rPr>
              <a:t>E</a:t>
            </a:r>
            <a:r>
              <a:rPr dirty="0" sz="8050" spc="-580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8050" spc="-10" b="1">
                <a:solidFill>
                  <a:srgbClr val="003259"/>
                </a:solidFill>
                <a:latin typeface="Arial"/>
                <a:cs typeface="Arial"/>
              </a:rPr>
              <a:t>ARCHITECTURE</a:t>
            </a:r>
            <a:endParaRPr sz="805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0094389" y="488372"/>
            <a:ext cx="824230" cy="9836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 b="1">
                <a:latin typeface="Times New Roman"/>
                <a:cs typeface="Times New Roman"/>
              </a:rPr>
              <a:t>06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3145" y="4262166"/>
            <a:ext cx="90759" cy="907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3145" y="4806722"/>
            <a:ext cx="90759" cy="907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3145" y="5351278"/>
            <a:ext cx="90759" cy="907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3145" y="6440390"/>
            <a:ext cx="90759" cy="907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" y="6748877"/>
            <a:ext cx="6607158" cy="353812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3050" spc="-45"/>
              <a:t>Technologies</a:t>
            </a:r>
            <a:r>
              <a:rPr dirty="0" sz="3050" spc="-75"/>
              <a:t> </a:t>
            </a:r>
            <a:r>
              <a:rPr dirty="0" sz="3050" spc="-20"/>
              <a:t>used</a:t>
            </a:r>
            <a:endParaRPr sz="3050"/>
          </a:p>
          <a:p>
            <a:pPr marL="678180" marR="212090">
              <a:lnSpc>
                <a:spcPts val="4290"/>
              </a:lnSpc>
              <a:spcBef>
                <a:spcPts val="245"/>
              </a:spcBef>
            </a:pPr>
            <a:r>
              <a:rPr dirty="0" sz="3050" spc="110" b="0">
                <a:latin typeface="Times New Roman"/>
                <a:cs typeface="Times New Roman"/>
              </a:rPr>
              <a:t>Python:</a:t>
            </a:r>
            <a:r>
              <a:rPr dirty="0" sz="3050" spc="40" b="0">
                <a:latin typeface="Times New Roman"/>
                <a:cs typeface="Times New Roman"/>
              </a:rPr>
              <a:t> </a:t>
            </a:r>
            <a:r>
              <a:rPr dirty="0" sz="3050" spc="90" b="0">
                <a:latin typeface="Times New Roman"/>
                <a:cs typeface="Times New Roman"/>
              </a:rPr>
              <a:t>Backend</a:t>
            </a:r>
            <a:r>
              <a:rPr dirty="0" sz="3050" spc="45" b="0">
                <a:latin typeface="Times New Roman"/>
                <a:cs typeface="Times New Roman"/>
              </a:rPr>
              <a:t> </a:t>
            </a:r>
            <a:r>
              <a:rPr dirty="0" sz="3050" b="0">
                <a:latin typeface="Times New Roman"/>
                <a:cs typeface="Times New Roman"/>
              </a:rPr>
              <a:t>logic</a:t>
            </a:r>
            <a:r>
              <a:rPr dirty="0" sz="3050" spc="40" b="0">
                <a:latin typeface="Times New Roman"/>
                <a:cs typeface="Times New Roman"/>
              </a:rPr>
              <a:t> </a:t>
            </a:r>
            <a:r>
              <a:rPr dirty="0" sz="3050" spc="170" b="0">
                <a:latin typeface="Times New Roman"/>
                <a:cs typeface="Times New Roman"/>
              </a:rPr>
              <a:t>and</a:t>
            </a:r>
            <a:r>
              <a:rPr dirty="0" sz="3050" spc="45" b="0">
                <a:latin typeface="Times New Roman"/>
                <a:cs typeface="Times New Roman"/>
              </a:rPr>
              <a:t> </a:t>
            </a:r>
            <a:r>
              <a:rPr dirty="0" sz="3050" spc="175" b="0">
                <a:latin typeface="Times New Roman"/>
                <a:cs typeface="Times New Roman"/>
              </a:rPr>
              <a:t>data</a:t>
            </a:r>
            <a:r>
              <a:rPr dirty="0" sz="3050" spc="45" b="0">
                <a:latin typeface="Times New Roman"/>
                <a:cs typeface="Times New Roman"/>
              </a:rPr>
              <a:t> </a:t>
            </a:r>
            <a:r>
              <a:rPr dirty="0" sz="3050" spc="50" b="0">
                <a:latin typeface="Times New Roman"/>
                <a:cs typeface="Times New Roman"/>
              </a:rPr>
              <a:t>processing. </a:t>
            </a:r>
            <a:r>
              <a:rPr dirty="0" sz="3050" spc="100" b="0">
                <a:latin typeface="Times New Roman"/>
                <a:cs typeface="Times New Roman"/>
              </a:rPr>
              <a:t>Flask:</a:t>
            </a:r>
            <a:r>
              <a:rPr dirty="0" sz="3050" spc="20" b="0">
                <a:latin typeface="Times New Roman"/>
                <a:cs typeface="Times New Roman"/>
              </a:rPr>
              <a:t> </a:t>
            </a:r>
            <a:r>
              <a:rPr dirty="0" sz="3050" spc="90" b="0">
                <a:latin typeface="Times New Roman"/>
                <a:cs typeface="Times New Roman"/>
              </a:rPr>
              <a:t>Backend</a:t>
            </a:r>
            <a:r>
              <a:rPr dirty="0" sz="3050" spc="25" b="0">
                <a:latin typeface="Times New Roman"/>
                <a:cs typeface="Times New Roman"/>
              </a:rPr>
              <a:t> </a:t>
            </a:r>
            <a:r>
              <a:rPr dirty="0" sz="3050" spc="50" b="0">
                <a:latin typeface="Times New Roman"/>
                <a:cs typeface="Times New Roman"/>
              </a:rPr>
              <a:t>server</a:t>
            </a:r>
            <a:r>
              <a:rPr dirty="0" sz="3050" spc="25" b="0">
                <a:latin typeface="Times New Roman"/>
                <a:cs typeface="Times New Roman"/>
              </a:rPr>
              <a:t> </a:t>
            </a:r>
            <a:r>
              <a:rPr dirty="0" sz="3050" spc="170" b="0">
                <a:latin typeface="Times New Roman"/>
                <a:cs typeface="Times New Roman"/>
              </a:rPr>
              <a:t>and</a:t>
            </a:r>
            <a:r>
              <a:rPr dirty="0" sz="3050" spc="25" b="0">
                <a:latin typeface="Times New Roman"/>
                <a:cs typeface="Times New Roman"/>
              </a:rPr>
              <a:t> </a:t>
            </a:r>
            <a:r>
              <a:rPr dirty="0" sz="3050" spc="160" b="0">
                <a:latin typeface="Times New Roman"/>
                <a:cs typeface="Times New Roman"/>
              </a:rPr>
              <a:t>API</a:t>
            </a:r>
            <a:r>
              <a:rPr dirty="0" sz="3050" spc="25" b="0">
                <a:latin typeface="Times New Roman"/>
                <a:cs typeface="Times New Roman"/>
              </a:rPr>
              <a:t> </a:t>
            </a:r>
            <a:r>
              <a:rPr dirty="0" sz="3050" spc="90" b="0">
                <a:latin typeface="Times New Roman"/>
                <a:cs typeface="Times New Roman"/>
              </a:rPr>
              <a:t>endpoints.</a:t>
            </a:r>
            <a:endParaRPr sz="3050">
              <a:latin typeface="Times New Roman"/>
              <a:cs typeface="Times New Roman"/>
            </a:endParaRPr>
          </a:p>
          <a:p>
            <a:pPr marL="678180">
              <a:lnSpc>
                <a:spcPct val="100000"/>
              </a:lnSpc>
              <a:spcBef>
                <a:spcPts val="380"/>
              </a:spcBef>
            </a:pPr>
            <a:r>
              <a:rPr dirty="0" sz="3050" spc="65" b="0">
                <a:latin typeface="Times New Roman"/>
                <a:cs typeface="Times New Roman"/>
              </a:rPr>
              <a:t>SQLite:</a:t>
            </a:r>
            <a:r>
              <a:rPr dirty="0" sz="3050" spc="20" b="0">
                <a:latin typeface="Times New Roman"/>
                <a:cs typeface="Times New Roman"/>
              </a:rPr>
              <a:t> </a:t>
            </a:r>
            <a:r>
              <a:rPr dirty="0" sz="3050" spc="95" b="0">
                <a:latin typeface="Times New Roman"/>
                <a:cs typeface="Times New Roman"/>
              </a:rPr>
              <a:t>Storage</a:t>
            </a:r>
            <a:r>
              <a:rPr dirty="0" sz="3050" spc="20" b="0">
                <a:latin typeface="Times New Roman"/>
                <a:cs typeface="Times New Roman"/>
              </a:rPr>
              <a:t> </a:t>
            </a:r>
            <a:r>
              <a:rPr dirty="0" sz="3050" spc="85" b="0">
                <a:latin typeface="Times New Roman"/>
                <a:cs typeface="Times New Roman"/>
              </a:rPr>
              <a:t>of</a:t>
            </a:r>
            <a:r>
              <a:rPr dirty="0" sz="3050" spc="25" b="0">
                <a:latin typeface="Times New Roman"/>
                <a:cs typeface="Times New Roman"/>
              </a:rPr>
              <a:t> </a:t>
            </a:r>
            <a:r>
              <a:rPr dirty="0" sz="3050" spc="105" b="0">
                <a:latin typeface="Times New Roman"/>
                <a:cs typeface="Times New Roman"/>
              </a:rPr>
              <a:t>monitoring</a:t>
            </a:r>
            <a:r>
              <a:rPr dirty="0" sz="3050" spc="20" b="0">
                <a:latin typeface="Times New Roman"/>
                <a:cs typeface="Times New Roman"/>
              </a:rPr>
              <a:t> </a:t>
            </a:r>
            <a:r>
              <a:rPr dirty="0" sz="3050" spc="80" b="0">
                <a:latin typeface="Times New Roman"/>
                <a:cs typeface="Times New Roman"/>
              </a:rPr>
              <a:t>readings</a:t>
            </a:r>
            <a:r>
              <a:rPr dirty="0" sz="3050" spc="25" b="0">
                <a:latin typeface="Times New Roman"/>
                <a:cs typeface="Times New Roman"/>
              </a:rPr>
              <a:t> </a:t>
            </a:r>
            <a:r>
              <a:rPr dirty="0" sz="3050" spc="145" b="0">
                <a:latin typeface="Times New Roman"/>
                <a:cs typeface="Times New Roman"/>
              </a:rPr>
              <a:t>and</a:t>
            </a:r>
            <a:endParaRPr sz="3050">
              <a:latin typeface="Times New Roman"/>
              <a:cs typeface="Times New Roman"/>
            </a:endParaRPr>
          </a:p>
          <a:p>
            <a:pPr marL="678180">
              <a:lnSpc>
                <a:spcPct val="100000"/>
              </a:lnSpc>
              <a:spcBef>
                <a:spcPts val="625"/>
              </a:spcBef>
            </a:pPr>
            <a:r>
              <a:rPr dirty="0" sz="3050" spc="45" b="0">
                <a:latin typeface="Times New Roman"/>
                <a:cs typeface="Times New Roman"/>
              </a:rPr>
              <a:t>settings.</a:t>
            </a:r>
            <a:endParaRPr sz="3050">
              <a:latin typeface="Times New Roman"/>
              <a:cs typeface="Times New Roman"/>
            </a:endParaRPr>
          </a:p>
          <a:p>
            <a:pPr marL="678180" marR="5080">
              <a:lnSpc>
                <a:spcPts val="4290"/>
              </a:lnSpc>
              <a:spcBef>
                <a:spcPts val="100"/>
              </a:spcBef>
            </a:pPr>
            <a:r>
              <a:rPr dirty="0" sz="3050" spc="70" b="0">
                <a:latin typeface="Times New Roman"/>
                <a:cs typeface="Times New Roman"/>
              </a:rPr>
              <a:t>Streamlit:</a:t>
            </a:r>
            <a:r>
              <a:rPr dirty="0" sz="3050" spc="50" b="0">
                <a:latin typeface="Times New Roman"/>
                <a:cs typeface="Times New Roman"/>
              </a:rPr>
              <a:t> </a:t>
            </a:r>
            <a:r>
              <a:rPr dirty="0" sz="3050" spc="85" b="0">
                <a:latin typeface="Times New Roman"/>
                <a:cs typeface="Times New Roman"/>
              </a:rPr>
              <a:t>Interactive</a:t>
            </a:r>
            <a:r>
              <a:rPr dirty="0" sz="3050" spc="55" b="0">
                <a:latin typeface="Times New Roman"/>
                <a:cs typeface="Times New Roman"/>
              </a:rPr>
              <a:t> </a:t>
            </a:r>
            <a:r>
              <a:rPr dirty="0" sz="3050" spc="105" b="0">
                <a:latin typeface="Times New Roman"/>
                <a:cs typeface="Times New Roman"/>
              </a:rPr>
              <a:t>monitoring</a:t>
            </a:r>
            <a:r>
              <a:rPr dirty="0" sz="3050" spc="50" b="0">
                <a:latin typeface="Times New Roman"/>
                <a:cs typeface="Times New Roman"/>
              </a:rPr>
              <a:t> </a:t>
            </a:r>
            <a:r>
              <a:rPr dirty="0" sz="3050" spc="130" b="0">
                <a:latin typeface="Times New Roman"/>
                <a:cs typeface="Times New Roman"/>
              </a:rPr>
              <a:t>dashboard. </a:t>
            </a:r>
            <a:r>
              <a:rPr dirty="0" sz="3050" spc="50" b="0">
                <a:latin typeface="Times New Roman"/>
                <a:cs typeface="Times New Roman"/>
              </a:rPr>
              <a:t>Wi-</a:t>
            </a:r>
            <a:r>
              <a:rPr dirty="0" sz="3050" spc="155" b="0">
                <a:latin typeface="Times New Roman"/>
                <a:cs typeface="Times New Roman"/>
              </a:rPr>
              <a:t>Fi</a:t>
            </a:r>
            <a:r>
              <a:rPr dirty="0" sz="3050" spc="25" b="0">
                <a:latin typeface="Times New Roman"/>
                <a:cs typeface="Times New Roman"/>
              </a:rPr>
              <a:t> </a:t>
            </a:r>
            <a:r>
              <a:rPr dirty="0" sz="3050" spc="170" b="0">
                <a:latin typeface="Times New Roman"/>
                <a:cs typeface="Times New Roman"/>
              </a:rPr>
              <a:t>and</a:t>
            </a:r>
            <a:r>
              <a:rPr dirty="0" sz="3050" spc="25" b="0">
                <a:latin typeface="Times New Roman"/>
                <a:cs typeface="Times New Roman"/>
              </a:rPr>
              <a:t> </a:t>
            </a:r>
            <a:r>
              <a:rPr dirty="0" sz="3050" spc="160" b="0">
                <a:latin typeface="Times New Roman"/>
                <a:cs typeface="Times New Roman"/>
              </a:rPr>
              <a:t>HTTP:</a:t>
            </a:r>
            <a:r>
              <a:rPr dirty="0" sz="3050" spc="30" b="0">
                <a:latin typeface="Times New Roman"/>
                <a:cs typeface="Times New Roman"/>
              </a:rPr>
              <a:t> </a:t>
            </a:r>
            <a:r>
              <a:rPr dirty="0" sz="3050" spc="114" b="0">
                <a:latin typeface="Times New Roman"/>
                <a:cs typeface="Times New Roman"/>
              </a:rPr>
              <a:t>Communication</a:t>
            </a:r>
            <a:r>
              <a:rPr dirty="0" sz="3050" spc="25" b="0">
                <a:latin typeface="Times New Roman"/>
                <a:cs typeface="Times New Roman"/>
              </a:rPr>
              <a:t> </a:t>
            </a:r>
            <a:r>
              <a:rPr dirty="0" sz="3050" spc="55" b="0">
                <a:latin typeface="Times New Roman"/>
                <a:cs typeface="Times New Roman"/>
              </a:rPr>
              <a:t>between </a:t>
            </a:r>
            <a:r>
              <a:rPr dirty="0" sz="3050" spc="125" b="0">
                <a:latin typeface="Times New Roman"/>
                <a:cs typeface="Times New Roman"/>
              </a:rPr>
              <a:t>hardware</a:t>
            </a:r>
            <a:r>
              <a:rPr dirty="0" sz="3050" spc="15" b="0">
                <a:latin typeface="Times New Roman"/>
                <a:cs typeface="Times New Roman"/>
              </a:rPr>
              <a:t> </a:t>
            </a:r>
            <a:r>
              <a:rPr dirty="0" sz="3050" spc="170" b="0">
                <a:latin typeface="Times New Roman"/>
                <a:cs typeface="Times New Roman"/>
              </a:rPr>
              <a:t>and</a:t>
            </a:r>
            <a:r>
              <a:rPr dirty="0" sz="3050" spc="20" b="0">
                <a:latin typeface="Times New Roman"/>
                <a:cs typeface="Times New Roman"/>
              </a:rPr>
              <a:t> </a:t>
            </a:r>
            <a:r>
              <a:rPr dirty="0" sz="3050" spc="100" b="0">
                <a:latin typeface="Times New Roman"/>
                <a:cs typeface="Times New Roman"/>
              </a:rPr>
              <a:t>backend.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49437" y="3833861"/>
            <a:ext cx="7405370" cy="1726564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3200" spc="-90" b="1">
                <a:latin typeface="Times New Roman"/>
                <a:cs typeface="Times New Roman"/>
              </a:rPr>
              <a:t>Architecture</a:t>
            </a:r>
            <a:r>
              <a:rPr dirty="0" sz="3200" spc="-15" b="1">
                <a:latin typeface="Times New Roman"/>
                <a:cs typeface="Times New Roman"/>
              </a:rPr>
              <a:t> </a:t>
            </a:r>
            <a:r>
              <a:rPr dirty="0" sz="3200" spc="-20" b="1">
                <a:latin typeface="Times New Roman"/>
                <a:cs typeface="Times New Roman"/>
              </a:rPr>
              <a:t>flow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3200" spc="195">
                <a:latin typeface="Times New Roman"/>
                <a:cs typeface="Times New Roman"/>
              </a:rPr>
              <a:t>NodeMCU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ESP8266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2750" spc="800">
                <a:latin typeface="Lucida Sans Unicode"/>
                <a:cs typeface="Lucida Sans Unicode"/>
              </a:rPr>
              <a:t>→</a:t>
            </a:r>
            <a:r>
              <a:rPr dirty="0" sz="2750" spc="-195">
                <a:latin typeface="Lucida Sans Unicode"/>
                <a:cs typeface="Lucida Sans Unicode"/>
              </a:rPr>
              <a:t> </a:t>
            </a:r>
            <a:r>
              <a:rPr dirty="0" sz="3200" spc="120">
                <a:latin typeface="Times New Roman"/>
                <a:cs typeface="Times New Roman"/>
              </a:rPr>
              <a:t>Flask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Backend</a:t>
            </a:r>
            <a:r>
              <a:rPr dirty="0" sz="3200" spc="75">
                <a:latin typeface="Times New Roman"/>
                <a:cs typeface="Times New Roman"/>
              </a:rPr>
              <a:t> </a:t>
            </a:r>
            <a:r>
              <a:rPr dirty="0" sz="2750" spc="750">
                <a:latin typeface="Lucida Sans Unicode"/>
                <a:cs typeface="Lucida Sans Unicode"/>
              </a:rPr>
              <a:t>→</a:t>
            </a:r>
            <a:endParaRPr sz="2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3200" spc="70">
                <a:latin typeface="Times New Roman"/>
                <a:cs typeface="Times New Roman"/>
              </a:rPr>
              <a:t>SQLite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135">
                <a:latin typeface="Times New Roman"/>
                <a:cs typeface="Times New Roman"/>
              </a:rPr>
              <a:t>Database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2750" spc="800">
                <a:latin typeface="Lucida Sans Unicode"/>
                <a:cs typeface="Lucida Sans Unicode"/>
              </a:rPr>
              <a:t>→</a:t>
            </a:r>
            <a:r>
              <a:rPr dirty="0" sz="2750" spc="-250">
                <a:latin typeface="Lucida Sans Unicode"/>
                <a:cs typeface="Lucida Sans Unicode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Streamlit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145">
                <a:latin typeface="Times New Roman"/>
                <a:cs typeface="Times New Roman"/>
              </a:rPr>
              <a:t>Dashboard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49437" y="6101925"/>
            <a:ext cx="7868920" cy="1159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dirty="0" sz="3200" spc="-45" b="1">
                <a:latin typeface="Times New Roman"/>
                <a:cs typeface="Times New Roman"/>
              </a:rPr>
              <a:t>Purpose</a:t>
            </a:r>
            <a:r>
              <a:rPr dirty="0" sz="3200" spc="-45">
                <a:latin typeface="Times New Roman"/>
                <a:cs typeface="Times New Roman"/>
              </a:rPr>
              <a:t>: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Connect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hardware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readings,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145">
                <a:latin typeface="Times New Roman"/>
                <a:cs typeface="Times New Roman"/>
              </a:rPr>
              <a:t>data </a:t>
            </a:r>
            <a:r>
              <a:rPr dirty="0" sz="3200" spc="80">
                <a:latin typeface="Times New Roman"/>
                <a:cs typeface="Times New Roman"/>
              </a:rPr>
              <a:t>storage,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visual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monitoring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in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one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system.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7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440">
                <a:latin typeface="Arial Black"/>
                <a:cs typeface="Arial Black"/>
              </a:rPr>
              <a:t>07</a:t>
            </a:r>
            <a:endParaRPr sz="5200">
              <a:latin typeface="Arial Black"/>
              <a:cs typeface="Arial Black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653" y="0"/>
            <a:ext cx="2091347" cy="369227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0246" y="1708093"/>
            <a:ext cx="16200755" cy="9759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200" spc="-55" b="1">
                <a:solidFill>
                  <a:srgbClr val="003259"/>
                </a:solidFill>
                <a:latin typeface="Arial"/>
                <a:cs typeface="Arial"/>
              </a:rPr>
              <a:t>DASHBOARD</a:t>
            </a:r>
            <a:r>
              <a:rPr dirty="0" sz="6200" spc="-340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200" spc="160" b="1">
                <a:solidFill>
                  <a:srgbClr val="003259"/>
                </a:solidFill>
                <a:latin typeface="Arial"/>
                <a:cs typeface="Arial"/>
              </a:rPr>
              <a:t>AND</a:t>
            </a:r>
            <a:r>
              <a:rPr dirty="0" sz="6200" spc="-33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200" b="1">
                <a:solidFill>
                  <a:srgbClr val="003259"/>
                </a:solidFill>
                <a:latin typeface="Arial"/>
                <a:cs typeface="Arial"/>
              </a:rPr>
              <a:t>LIVE</a:t>
            </a:r>
            <a:r>
              <a:rPr dirty="0" sz="6200" spc="-33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6200" spc="45" b="1">
                <a:solidFill>
                  <a:srgbClr val="003259"/>
                </a:solidFill>
                <a:latin typeface="Arial"/>
                <a:cs typeface="Arial"/>
              </a:rPr>
              <a:t>D</a:t>
            </a:r>
            <a:r>
              <a:rPr dirty="0" sz="6200" spc="40" b="1">
                <a:solidFill>
                  <a:srgbClr val="003259"/>
                </a:solidFill>
                <a:latin typeface="Arial"/>
                <a:cs typeface="Arial"/>
              </a:rPr>
              <a:t>E</a:t>
            </a:r>
            <a:r>
              <a:rPr dirty="0" sz="6200" spc="-130" b="1">
                <a:solidFill>
                  <a:srgbClr val="003259"/>
                </a:solidFill>
                <a:latin typeface="Arial"/>
                <a:cs typeface="Arial"/>
              </a:rPr>
              <a:t>M</a:t>
            </a:r>
            <a:r>
              <a:rPr dirty="0" sz="6200" spc="45" b="1">
                <a:solidFill>
                  <a:srgbClr val="003259"/>
                </a:solidFill>
                <a:latin typeface="Arial"/>
                <a:cs typeface="Arial"/>
              </a:rPr>
              <a:t>ON</a:t>
            </a:r>
            <a:r>
              <a:rPr dirty="0" sz="6200" spc="40" b="1">
                <a:solidFill>
                  <a:srgbClr val="003259"/>
                </a:solidFill>
                <a:latin typeface="Arial"/>
                <a:cs typeface="Arial"/>
              </a:rPr>
              <a:t>S</a:t>
            </a:r>
            <a:r>
              <a:rPr dirty="0" sz="6200" spc="45" b="1">
                <a:solidFill>
                  <a:srgbClr val="003259"/>
                </a:solidFill>
                <a:latin typeface="Arial"/>
                <a:cs typeface="Arial"/>
              </a:rPr>
              <a:t>T</a:t>
            </a:r>
            <a:r>
              <a:rPr dirty="0" sz="6200" spc="40" b="1">
                <a:solidFill>
                  <a:srgbClr val="003259"/>
                </a:solidFill>
                <a:latin typeface="Arial"/>
                <a:cs typeface="Arial"/>
              </a:rPr>
              <a:t>R</a:t>
            </a:r>
            <a:r>
              <a:rPr dirty="0" sz="6200" spc="-525" b="1">
                <a:solidFill>
                  <a:srgbClr val="003259"/>
                </a:solidFill>
                <a:latin typeface="Arial"/>
                <a:cs typeface="Arial"/>
              </a:rPr>
              <a:t>A</a:t>
            </a:r>
            <a:r>
              <a:rPr dirty="0" sz="6200" spc="45" b="1">
                <a:solidFill>
                  <a:srgbClr val="003259"/>
                </a:solidFill>
                <a:latin typeface="Arial"/>
                <a:cs typeface="Arial"/>
              </a:rPr>
              <a:t>TIO</a:t>
            </a:r>
            <a:r>
              <a:rPr dirty="0" sz="6200" spc="50" b="1">
                <a:solidFill>
                  <a:srgbClr val="003259"/>
                </a:solidFill>
                <a:latin typeface="Arial"/>
                <a:cs typeface="Arial"/>
              </a:rPr>
              <a:t>N</a:t>
            </a:r>
            <a:endParaRPr sz="6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802" y="4072343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802" y="4643843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802" y="5215343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802" y="6358343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802" y="6929842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802" y="8072842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802" y="9215842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81700" y="3713219"/>
            <a:ext cx="7091680" cy="5740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2105660">
              <a:lnSpc>
                <a:spcPct val="117200"/>
              </a:lnSpc>
              <a:spcBef>
                <a:spcPts val="90"/>
              </a:spcBef>
            </a:pPr>
            <a:r>
              <a:rPr dirty="0" sz="3200" spc="-50" b="1">
                <a:latin typeface="Times New Roman"/>
                <a:cs typeface="Times New Roman"/>
              </a:rPr>
              <a:t>Dashboard</a:t>
            </a:r>
            <a:r>
              <a:rPr dirty="0" sz="3200" spc="-140" b="1">
                <a:latin typeface="Times New Roman"/>
                <a:cs typeface="Times New Roman"/>
              </a:rPr>
              <a:t> </a:t>
            </a:r>
            <a:r>
              <a:rPr dirty="0" sz="3200" spc="-30" b="1">
                <a:latin typeface="Times New Roman"/>
                <a:cs typeface="Times New Roman"/>
              </a:rPr>
              <a:t>file:</a:t>
            </a:r>
            <a:r>
              <a:rPr dirty="0" sz="3200" spc="-140" b="1">
                <a:latin typeface="Times New Roman"/>
                <a:cs typeface="Times New Roman"/>
              </a:rPr>
              <a:t> </a:t>
            </a:r>
            <a:r>
              <a:rPr dirty="0" sz="3200" spc="-80" b="1">
                <a:latin typeface="Times New Roman"/>
                <a:cs typeface="Times New Roman"/>
              </a:rPr>
              <a:t>dashboard.py </a:t>
            </a:r>
            <a:r>
              <a:rPr dirty="0" sz="3200" spc="-40" b="1">
                <a:latin typeface="Times New Roman"/>
                <a:cs typeface="Times New Roman"/>
              </a:rPr>
              <a:t>Dashboard</a:t>
            </a:r>
            <a:r>
              <a:rPr dirty="0" sz="3200" spc="-145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features</a:t>
            </a:r>
            <a:endParaRPr sz="3200">
              <a:latin typeface="Times New Roman"/>
              <a:cs typeface="Times New Roman"/>
            </a:endParaRPr>
          </a:p>
          <a:p>
            <a:pPr marL="12700" marR="518159">
              <a:lnSpc>
                <a:spcPct val="117200"/>
              </a:lnSpc>
            </a:pPr>
            <a:r>
              <a:rPr dirty="0" sz="3200">
                <a:latin typeface="Times New Roman"/>
                <a:cs typeface="Times New Roman"/>
              </a:rPr>
              <a:t>Bed-wise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monitoring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cards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status </a:t>
            </a:r>
            <a:r>
              <a:rPr dirty="0" sz="3200" spc="80">
                <a:latin typeface="Times New Roman"/>
                <a:cs typeface="Times New Roman"/>
              </a:rPr>
              <a:t>indicators.</a:t>
            </a:r>
            <a:endParaRPr sz="3200">
              <a:latin typeface="Times New Roman"/>
              <a:cs typeface="Times New Roman"/>
            </a:endParaRPr>
          </a:p>
          <a:p>
            <a:pPr marL="12700" marR="405765">
              <a:lnSpc>
                <a:spcPct val="117200"/>
              </a:lnSpc>
            </a:pPr>
            <a:r>
              <a:rPr dirty="0" sz="3200" spc="165">
                <a:latin typeface="Times New Roman"/>
                <a:cs typeface="Times New Roman"/>
              </a:rPr>
              <a:t>Drip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30">
                <a:latin typeface="Times New Roman"/>
                <a:cs typeface="Times New Roman"/>
              </a:rPr>
              <a:t>rate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flow-</a:t>
            </a:r>
            <a:r>
              <a:rPr dirty="0" sz="3200" spc="130">
                <a:latin typeface="Times New Roman"/>
                <a:cs typeface="Times New Roman"/>
              </a:rPr>
              <a:t>rate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information. </a:t>
            </a:r>
            <a:r>
              <a:rPr dirty="0" sz="3200" spc="100">
                <a:latin typeface="Times New Roman"/>
                <a:cs typeface="Times New Roman"/>
              </a:rPr>
              <a:t>Configured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20">
                <a:latin typeface="Times New Roman"/>
                <a:cs typeface="Times New Roman"/>
              </a:rPr>
              <a:t>bag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volume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estimated </a:t>
            </a:r>
            <a:r>
              <a:rPr dirty="0" sz="3200" spc="90">
                <a:latin typeface="Times New Roman"/>
                <a:cs typeface="Times New Roman"/>
              </a:rPr>
              <a:t>remaining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time.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17200"/>
              </a:lnSpc>
            </a:pPr>
            <a:r>
              <a:rPr dirty="0" sz="3200" spc="85">
                <a:latin typeface="Times New Roman"/>
                <a:cs typeface="Times New Roman"/>
              </a:rPr>
              <a:t>IV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configuration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settings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target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drip rate.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3200" spc="95">
                <a:latin typeface="Times New Roman"/>
                <a:cs typeface="Times New Roman"/>
              </a:rPr>
              <a:t>Historical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readings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75">
                <a:latin typeface="Times New Roman"/>
                <a:cs typeface="Times New Roman"/>
              </a:rPr>
              <a:t>and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alert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display.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33912" y="3802103"/>
            <a:ext cx="3256279" cy="5073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50" spc="-130" b="1">
                <a:latin typeface="Times New Roman"/>
                <a:cs typeface="Times New Roman"/>
              </a:rPr>
              <a:t>Run</a:t>
            </a:r>
            <a:r>
              <a:rPr dirty="0" sz="3150" spc="-70" b="1">
                <a:latin typeface="Times New Roman"/>
                <a:cs typeface="Times New Roman"/>
              </a:rPr>
              <a:t> </a:t>
            </a:r>
            <a:r>
              <a:rPr dirty="0" sz="3150" spc="-10" b="1">
                <a:latin typeface="Times New Roman"/>
                <a:cs typeface="Times New Roman"/>
              </a:rPr>
              <a:t>the</a:t>
            </a:r>
            <a:r>
              <a:rPr dirty="0" sz="3150" spc="-180" b="1">
                <a:latin typeface="Times New Roman"/>
                <a:cs typeface="Times New Roman"/>
              </a:rPr>
              <a:t> </a:t>
            </a:r>
            <a:r>
              <a:rPr dirty="0" sz="3150" spc="-50" b="1">
                <a:latin typeface="Times New Roman"/>
                <a:cs typeface="Times New Roman"/>
              </a:rPr>
              <a:t>application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33912" y="4907003"/>
            <a:ext cx="4314190" cy="5073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50" spc="75">
                <a:latin typeface="Times New Roman"/>
                <a:cs typeface="Times New Roman"/>
              </a:rPr>
              <a:t>Backend</a:t>
            </a:r>
            <a:r>
              <a:rPr dirty="0" sz="3150">
                <a:latin typeface="Times New Roman"/>
                <a:cs typeface="Times New Roman"/>
              </a:rPr>
              <a:t> : </a:t>
            </a:r>
            <a:r>
              <a:rPr dirty="0" sz="3150" spc="130">
                <a:latin typeface="Times New Roman"/>
                <a:cs typeface="Times New Roman"/>
              </a:rPr>
              <a:t>python</a:t>
            </a:r>
            <a:r>
              <a:rPr dirty="0" sz="3150">
                <a:latin typeface="Times New Roman"/>
                <a:cs typeface="Times New Roman"/>
              </a:rPr>
              <a:t> </a:t>
            </a:r>
            <a:r>
              <a:rPr dirty="0" sz="3150" spc="100">
                <a:latin typeface="Times New Roman"/>
                <a:cs typeface="Times New Roman"/>
              </a:rPr>
              <a:t>app.py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33912" y="6011903"/>
            <a:ext cx="6807834" cy="5073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50" spc="135">
                <a:latin typeface="Times New Roman"/>
                <a:cs typeface="Times New Roman"/>
              </a:rPr>
              <a:t>Dashboard:</a:t>
            </a:r>
            <a:r>
              <a:rPr dirty="0" sz="3150" spc="10">
                <a:latin typeface="Times New Roman"/>
                <a:cs typeface="Times New Roman"/>
              </a:rPr>
              <a:t> </a:t>
            </a:r>
            <a:r>
              <a:rPr dirty="0" sz="3150" spc="75">
                <a:latin typeface="Times New Roman"/>
                <a:cs typeface="Times New Roman"/>
              </a:rPr>
              <a:t>streamlit</a:t>
            </a:r>
            <a:r>
              <a:rPr dirty="0" sz="3150" spc="10">
                <a:latin typeface="Times New Roman"/>
                <a:cs typeface="Times New Roman"/>
              </a:rPr>
              <a:t> </a:t>
            </a:r>
            <a:r>
              <a:rPr dirty="0" sz="3150" spc="150">
                <a:latin typeface="Times New Roman"/>
                <a:cs typeface="Times New Roman"/>
              </a:rPr>
              <a:t>run</a:t>
            </a:r>
            <a:r>
              <a:rPr dirty="0" sz="3150" spc="15">
                <a:latin typeface="Times New Roman"/>
                <a:cs typeface="Times New Roman"/>
              </a:rPr>
              <a:t> </a:t>
            </a:r>
            <a:r>
              <a:rPr dirty="0" sz="3150" spc="105">
                <a:latin typeface="Times New Roman"/>
                <a:cs typeface="Times New Roman"/>
              </a:rPr>
              <a:t>dashboard.py</a:t>
            </a:r>
            <a:endParaRPr sz="315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5237" y="7940461"/>
            <a:ext cx="95249" cy="95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5237" y="8492911"/>
            <a:ext cx="95249" cy="952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333912" y="7046014"/>
            <a:ext cx="6322695" cy="168275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3150" spc="80">
                <a:latin typeface="Times New Roman"/>
                <a:cs typeface="Times New Roman"/>
              </a:rPr>
              <a:t>Local</a:t>
            </a:r>
            <a:r>
              <a:rPr dirty="0" sz="3150" spc="20">
                <a:latin typeface="Times New Roman"/>
                <a:cs typeface="Times New Roman"/>
              </a:rPr>
              <a:t> </a:t>
            </a:r>
            <a:r>
              <a:rPr dirty="0" sz="3150" spc="-10">
                <a:latin typeface="Times New Roman"/>
                <a:cs typeface="Times New Roman"/>
              </a:rPr>
              <a:t>addresses:</a:t>
            </a:r>
            <a:endParaRPr sz="3150">
              <a:latin typeface="Times New Roman"/>
              <a:cs typeface="Times New Roman"/>
            </a:endParaRPr>
          </a:p>
          <a:p>
            <a:pPr marL="694690" marR="5080">
              <a:lnSpc>
                <a:spcPct val="115100"/>
              </a:lnSpc>
            </a:pPr>
            <a:r>
              <a:rPr dirty="0" sz="3150" spc="50">
                <a:latin typeface="Times New Roman"/>
                <a:cs typeface="Times New Roman"/>
              </a:rPr>
              <a:t>Backend:</a:t>
            </a:r>
            <a:r>
              <a:rPr dirty="0" sz="3150" spc="20">
                <a:latin typeface="Times New Roman"/>
                <a:cs typeface="Times New Roman"/>
              </a:rPr>
              <a:t> </a:t>
            </a:r>
            <a:r>
              <a:rPr dirty="0" sz="3150" spc="40">
                <a:latin typeface="Times New Roman"/>
                <a:cs typeface="Times New Roman"/>
                <a:hlinkClick r:id="rId4"/>
              </a:rPr>
              <a:t>http://localhost:5000</a:t>
            </a:r>
            <a:r>
              <a:rPr dirty="0" sz="3150" spc="40">
                <a:latin typeface="Times New Roman"/>
                <a:cs typeface="Times New Roman"/>
              </a:rPr>
              <a:t> </a:t>
            </a:r>
            <a:r>
              <a:rPr dirty="0" sz="3150" spc="130">
                <a:latin typeface="Times New Roman"/>
                <a:cs typeface="Times New Roman"/>
              </a:rPr>
              <a:t>Dashboard:</a:t>
            </a:r>
            <a:r>
              <a:rPr dirty="0" sz="3150" spc="15">
                <a:latin typeface="Times New Roman"/>
                <a:cs typeface="Times New Roman"/>
              </a:rPr>
              <a:t> </a:t>
            </a:r>
            <a:r>
              <a:rPr dirty="0" sz="3150" spc="40">
                <a:latin typeface="Times New Roman"/>
                <a:cs typeface="Times New Roman"/>
                <a:hlinkClick r:id="rId5"/>
              </a:rPr>
              <a:t>http://localhost:8501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094394" y="490062"/>
            <a:ext cx="824230" cy="983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250" spc="-25" b="1">
                <a:latin typeface="Times New Roman"/>
                <a:cs typeface="Times New Roman"/>
              </a:rPr>
              <a:t>08</a:t>
            </a:r>
            <a:endParaRPr sz="625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9805" y="0"/>
            <a:ext cx="6368193" cy="1028523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84981" y="1374117"/>
            <a:ext cx="6618605" cy="12560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50" spc="-50" b="1">
                <a:solidFill>
                  <a:srgbClr val="003259"/>
                </a:solidFill>
                <a:latin typeface="Arial"/>
                <a:cs typeface="Arial"/>
              </a:rPr>
              <a:t>DASHBOARD</a:t>
            </a:r>
            <a:endParaRPr sz="80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" y="6748877"/>
            <a:ext cx="6607158" cy="35381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700" y="3282314"/>
            <a:ext cx="8149466" cy="64390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63337" y="3282314"/>
            <a:ext cx="7549966" cy="6574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09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653" y="0"/>
            <a:ext cx="2091347" cy="369227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2052" y="1613019"/>
            <a:ext cx="14062075" cy="1256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50" spc="-395" b="1">
                <a:solidFill>
                  <a:srgbClr val="003259"/>
                </a:solidFill>
                <a:latin typeface="Arial"/>
                <a:cs typeface="Arial"/>
              </a:rPr>
              <a:t>D</a:t>
            </a:r>
            <a:r>
              <a:rPr dirty="0" sz="8050" spc="-869" b="1">
                <a:solidFill>
                  <a:srgbClr val="003259"/>
                </a:solidFill>
                <a:latin typeface="Arial"/>
                <a:cs typeface="Arial"/>
              </a:rPr>
              <a:t>A</a:t>
            </a:r>
            <a:r>
              <a:rPr dirty="0" sz="8050" spc="-590" b="1">
                <a:solidFill>
                  <a:srgbClr val="003259"/>
                </a:solidFill>
                <a:latin typeface="Arial"/>
                <a:cs typeface="Arial"/>
              </a:rPr>
              <a:t>T</a:t>
            </a:r>
            <a:r>
              <a:rPr dirty="0" sz="8050" spc="-140" b="1">
                <a:solidFill>
                  <a:srgbClr val="003259"/>
                </a:solidFill>
                <a:latin typeface="Arial"/>
                <a:cs typeface="Arial"/>
              </a:rPr>
              <a:t>ABAS</a:t>
            </a:r>
            <a:r>
              <a:rPr dirty="0" sz="8050" spc="-130" b="1">
                <a:solidFill>
                  <a:srgbClr val="003259"/>
                </a:solidFill>
                <a:latin typeface="Arial"/>
                <a:cs typeface="Arial"/>
              </a:rPr>
              <a:t>E</a:t>
            </a:r>
            <a:r>
              <a:rPr dirty="0" sz="8050" spc="-61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8050" spc="190" b="1">
                <a:solidFill>
                  <a:srgbClr val="003259"/>
                </a:solidFill>
                <a:latin typeface="Arial"/>
                <a:cs typeface="Arial"/>
              </a:rPr>
              <a:t>AND</a:t>
            </a:r>
            <a:r>
              <a:rPr dirty="0" sz="8050" spc="-60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8050" spc="-155" b="1">
                <a:solidFill>
                  <a:srgbClr val="003259"/>
                </a:solidFill>
                <a:latin typeface="Arial"/>
                <a:cs typeface="Arial"/>
              </a:rPr>
              <a:t>D</a:t>
            </a:r>
            <a:r>
              <a:rPr dirty="0" sz="8050" spc="-630" b="1">
                <a:solidFill>
                  <a:srgbClr val="003259"/>
                </a:solidFill>
                <a:latin typeface="Arial"/>
                <a:cs typeface="Arial"/>
              </a:rPr>
              <a:t>A</a:t>
            </a:r>
            <a:r>
              <a:rPr dirty="0" sz="8050" spc="-350" b="1">
                <a:solidFill>
                  <a:srgbClr val="003259"/>
                </a:solidFill>
                <a:latin typeface="Arial"/>
                <a:cs typeface="Arial"/>
              </a:rPr>
              <a:t>T</a:t>
            </a:r>
            <a:r>
              <a:rPr dirty="0" sz="8050" spc="110" b="1">
                <a:solidFill>
                  <a:srgbClr val="003259"/>
                </a:solidFill>
                <a:latin typeface="Arial"/>
                <a:cs typeface="Arial"/>
              </a:rPr>
              <a:t>A</a:t>
            </a:r>
            <a:r>
              <a:rPr dirty="0" sz="8050" spc="-600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8050" spc="-20" b="1">
                <a:solidFill>
                  <a:srgbClr val="003259"/>
                </a:solidFill>
                <a:latin typeface="Arial"/>
                <a:cs typeface="Arial"/>
              </a:rPr>
              <a:t>FLOW</a:t>
            </a:r>
            <a:endParaRPr sz="80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802" y="5786843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802" y="6929842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9830" rIns="0" bIns="0" rtlCol="0" vert="horz">
            <a:spAutoFit/>
          </a:bodyPr>
          <a:lstStyle/>
          <a:p>
            <a:pPr marL="12700" marR="2679065">
              <a:lnSpc>
                <a:spcPct val="117200"/>
              </a:lnSpc>
              <a:spcBef>
                <a:spcPts val="90"/>
              </a:spcBef>
            </a:pPr>
            <a:r>
              <a:rPr dirty="0"/>
              <a:t>Database:</a:t>
            </a:r>
            <a:r>
              <a:rPr dirty="0" spc="-195"/>
              <a:t> </a:t>
            </a:r>
            <a:r>
              <a:rPr dirty="0" spc="-35"/>
              <a:t>dripguard.db </a:t>
            </a:r>
            <a:r>
              <a:rPr dirty="0"/>
              <a:t>Database</a:t>
            </a:r>
            <a:r>
              <a:rPr dirty="0" spc="-70"/>
              <a:t> </a:t>
            </a:r>
            <a:r>
              <a:rPr dirty="0" spc="-35"/>
              <a:t>technology:</a:t>
            </a:r>
            <a:r>
              <a:rPr dirty="0" spc="-70"/>
              <a:t> </a:t>
            </a:r>
            <a:r>
              <a:rPr dirty="0" spc="40"/>
              <a:t>SQLite </a:t>
            </a:r>
            <a:r>
              <a:rPr dirty="0"/>
              <a:t>Main</a:t>
            </a:r>
            <a:r>
              <a:rPr dirty="0" spc="-25"/>
              <a:t> </a:t>
            </a:r>
            <a:r>
              <a:rPr dirty="0" spc="-10"/>
              <a:t>tables</a:t>
            </a:r>
          </a:p>
          <a:p>
            <a:pPr marL="711200" marR="621030">
              <a:lnSpc>
                <a:spcPct val="117200"/>
              </a:lnSpc>
            </a:pPr>
            <a:r>
              <a:rPr dirty="0" spc="70" b="0">
                <a:latin typeface="Times New Roman"/>
                <a:cs typeface="Times New Roman"/>
              </a:rPr>
              <a:t>readings:</a:t>
            </a:r>
            <a:r>
              <a:rPr dirty="0" spc="15" b="0">
                <a:latin typeface="Times New Roman"/>
                <a:cs typeface="Times New Roman"/>
              </a:rPr>
              <a:t> </a:t>
            </a:r>
            <a:r>
              <a:rPr dirty="0" spc="80" b="0">
                <a:latin typeface="Times New Roman"/>
                <a:cs typeface="Times New Roman"/>
              </a:rPr>
              <a:t>Stores</a:t>
            </a:r>
            <a:r>
              <a:rPr dirty="0" spc="20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monitoring</a:t>
            </a:r>
            <a:r>
              <a:rPr dirty="0" spc="20" b="0">
                <a:latin typeface="Times New Roman"/>
                <a:cs typeface="Times New Roman"/>
              </a:rPr>
              <a:t> </a:t>
            </a:r>
            <a:r>
              <a:rPr dirty="0" spc="70" b="0">
                <a:latin typeface="Times New Roman"/>
                <a:cs typeface="Times New Roman"/>
              </a:rPr>
              <a:t>readings </a:t>
            </a:r>
            <a:r>
              <a:rPr dirty="0" spc="175" b="0">
                <a:latin typeface="Times New Roman"/>
                <a:cs typeface="Times New Roman"/>
              </a:rPr>
              <a:t>and</a:t>
            </a:r>
            <a:r>
              <a:rPr dirty="0" spc="20" b="0">
                <a:latin typeface="Times New Roman"/>
                <a:cs typeface="Times New Roman"/>
              </a:rPr>
              <a:t> </a:t>
            </a:r>
            <a:r>
              <a:rPr dirty="0" spc="75" b="0">
                <a:latin typeface="Times New Roman"/>
                <a:cs typeface="Times New Roman"/>
              </a:rPr>
              <a:t>historical</a:t>
            </a:r>
            <a:r>
              <a:rPr dirty="0" spc="20" b="0">
                <a:latin typeface="Times New Roman"/>
                <a:cs typeface="Times New Roman"/>
              </a:rPr>
              <a:t> </a:t>
            </a:r>
            <a:r>
              <a:rPr dirty="0" spc="145" b="0">
                <a:latin typeface="Times New Roman"/>
                <a:cs typeface="Times New Roman"/>
              </a:rPr>
              <a:t>data.</a:t>
            </a:r>
          </a:p>
          <a:p>
            <a:pPr marL="711200" marR="5080">
              <a:lnSpc>
                <a:spcPct val="117200"/>
              </a:lnSpc>
            </a:pPr>
            <a:r>
              <a:rPr dirty="0" b="0">
                <a:latin typeface="Times New Roman"/>
                <a:cs typeface="Times New Roman"/>
              </a:rPr>
              <a:t>iv_settings:</a:t>
            </a:r>
            <a:r>
              <a:rPr dirty="0" spc="170" b="0">
                <a:latin typeface="Times New Roman"/>
                <a:cs typeface="Times New Roman"/>
              </a:rPr>
              <a:t> </a:t>
            </a:r>
            <a:r>
              <a:rPr dirty="0" spc="80" b="0">
                <a:latin typeface="Times New Roman"/>
                <a:cs typeface="Times New Roman"/>
              </a:rPr>
              <a:t>Stores</a:t>
            </a:r>
            <a:r>
              <a:rPr dirty="0" spc="175" b="0">
                <a:latin typeface="Times New Roman"/>
                <a:cs typeface="Times New Roman"/>
              </a:rPr>
              <a:t> </a:t>
            </a:r>
            <a:r>
              <a:rPr dirty="0" spc="100" b="0">
                <a:latin typeface="Times New Roman"/>
                <a:cs typeface="Times New Roman"/>
              </a:rPr>
              <a:t>configuration</a:t>
            </a:r>
            <a:r>
              <a:rPr dirty="0" spc="175" b="0">
                <a:latin typeface="Times New Roman"/>
                <a:cs typeface="Times New Roman"/>
              </a:rPr>
              <a:t> </a:t>
            </a:r>
            <a:r>
              <a:rPr dirty="0" spc="45" b="0">
                <a:latin typeface="Times New Roman"/>
                <a:cs typeface="Times New Roman"/>
              </a:rPr>
              <a:t>settings </a:t>
            </a:r>
            <a:r>
              <a:rPr dirty="0" spc="114" b="0">
                <a:latin typeface="Times New Roman"/>
                <a:cs typeface="Times New Roman"/>
              </a:rPr>
              <a:t>for</a:t>
            </a:r>
            <a:r>
              <a:rPr dirty="0" spc="20" b="0">
                <a:latin typeface="Times New Roman"/>
                <a:cs typeface="Times New Roman"/>
              </a:rPr>
              <a:t> </a:t>
            </a:r>
            <a:r>
              <a:rPr dirty="0" spc="75" b="0">
                <a:latin typeface="Times New Roman"/>
                <a:cs typeface="Times New Roman"/>
              </a:rPr>
              <a:t>each</a:t>
            </a:r>
            <a:r>
              <a:rPr dirty="0" spc="20" b="0">
                <a:latin typeface="Times New Roman"/>
                <a:cs typeface="Times New Roman"/>
              </a:rPr>
              <a:t> </a:t>
            </a:r>
            <a:r>
              <a:rPr dirty="0" spc="75" b="0">
                <a:latin typeface="Times New Roman"/>
                <a:cs typeface="Times New Roman"/>
              </a:rPr>
              <a:t>bed.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42067" y="4309016"/>
            <a:ext cx="82593" cy="8259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42067" y="4804578"/>
            <a:ext cx="82593" cy="8259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42067" y="5300140"/>
            <a:ext cx="82593" cy="8259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42067" y="6291264"/>
            <a:ext cx="82593" cy="8259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42067" y="7282389"/>
            <a:ext cx="82593" cy="8259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749437" y="3500360"/>
            <a:ext cx="8466455" cy="448564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2800" b="1">
                <a:latin typeface="Times New Roman"/>
                <a:cs typeface="Times New Roman"/>
              </a:rPr>
              <a:t>Data</a:t>
            </a:r>
            <a:r>
              <a:rPr dirty="0" sz="2800" spc="9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flow</a:t>
            </a:r>
            <a:endParaRPr sz="2800">
              <a:latin typeface="Times New Roman"/>
              <a:cs typeface="Times New Roman"/>
            </a:endParaRPr>
          </a:p>
          <a:p>
            <a:pPr marL="618490">
              <a:lnSpc>
                <a:spcPct val="100000"/>
              </a:lnSpc>
              <a:spcBef>
                <a:spcPts val="540"/>
              </a:spcBef>
            </a:pPr>
            <a:r>
              <a:rPr dirty="0" sz="2800" spc="90">
                <a:latin typeface="Times New Roman"/>
                <a:cs typeface="Times New Roman"/>
              </a:rPr>
              <a:t>The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215">
                <a:latin typeface="Times New Roman"/>
                <a:cs typeface="Times New Roman"/>
              </a:rPr>
              <a:t>IR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sensor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50">
                <a:latin typeface="Times New Roman"/>
                <a:cs typeface="Times New Roman"/>
              </a:rPr>
              <a:t>detects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85">
                <a:latin typeface="Times New Roman"/>
                <a:cs typeface="Times New Roman"/>
              </a:rPr>
              <a:t>drops.</a:t>
            </a:r>
            <a:endParaRPr sz="2800">
              <a:latin typeface="Times New Roman"/>
              <a:cs typeface="Times New Roman"/>
            </a:endParaRPr>
          </a:p>
          <a:p>
            <a:pPr marL="618490" marR="5080">
              <a:lnSpc>
                <a:spcPct val="116100"/>
              </a:lnSpc>
            </a:pPr>
            <a:r>
              <a:rPr dirty="0" sz="2800" spc="90">
                <a:latin typeface="Times New Roman"/>
                <a:cs typeface="Times New Roman"/>
              </a:rPr>
              <a:t>The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175">
                <a:latin typeface="Times New Roman"/>
                <a:cs typeface="Times New Roman"/>
              </a:rPr>
              <a:t>NodeMCU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processes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the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sensor </a:t>
            </a:r>
            <a:r>
              <a:rPr dirty="0" sz="2800" spc="-10">
                <a:latin typeface="Times New Roman"/>
                <a:cs typeface="Times New Roman"/>
              </a:rPr>
              <a:t>signal. </a:t>
            </a:r>
            <a:r>
              <a:rPr dirty="0" sz="2800" spc="80">
                <a:latin typeface="Times New Roman"/>
                <a:cs typeface="Times New Roman"/>
              </a:rPr>
              <a:t>Readings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are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95">
                <a:latin typeface="Times New Roman"/>
                <a:cs typeface="Times New Roman"/>
              </a:rPr>
              <a:t>transmitted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145">
                <a:latin typeface="Times New Roman"/>
                <a:cs typeface="Times New Roman"/>
              </a:rPr>
              <a:t>to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the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110">
                <a:latin typeface="Times New Roman"/>
                <a:cs typeface="Times New Roman"/>
              </a:rPr>
              <a:t>Flask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95">
                <a:latin typeface="Times New Roman"/>
                <a:cs typeface="Times New Roman"/>
              </a:rPr>
              <a:t>backend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40">
                <a:latin typeface="Times New Roman"/>
                <a:cs typeface="Times New Roman"/>
              </a:rPr>
              <a:t>over </a:t>
            </a:r>
            <a:r>
              <a:rPr dirty="0" sz="2800">
                <a:latin typeface="Times New Roman"/>
                <a:cs typeface="Times New Roman"/>
              </a:rPr>
              <a:t>Wi-</a:t>
            </a:r>
            <a:r>
              <a:rPr dirty="0" sz="2800" spc="80">
                <a:latin typeface="Times New Roman"/>
                <a:cs typeface="Times New Roman"/>
              </a:rPr>
              <a:t>Fi.</a:t>
            </a:r>
            <a:endParaRPr sz="2800">
              <a:latin typeface="Times New Roman"/>
              <a:cs typeface="Times New Roman"/>
            </a:endParaRPr>
          </a:p>
          <a:p>
            <a:pPr marL="618490" marR="1047750">
              <a:lnSpc>
                <a:spcPct val="116100"/>
              </a:lnSpc>
              <a:spcBef>
                <a:spcPts val="5"/>
              </a:spcBef>
            </a:pPr>
            <a:r>
              <a:rPr dirty="0" sz="2800" spc="90">
                <a:latin typeface="Times New Roman"/>
                <a:cs typeface="Times New Roman"/>
              </a:rPr>
              <a:t>The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 spc="95">
                <a:latin typeface="Times New Roman"/>
                <a:cs typeface="Times New Roman"/>
              </a:rPr>
              <a:t>backend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processes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stores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the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 spc="150">
                <a:latin typeface="Times New Roman"/>
                <a:cs typeface="Times New Roman"/>
              </a:rPr>
              <a:t>data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 spc="30">
                <a:latin typeface="Times New Roman"/>
                <a:cs typeface="Times New Roman"/>
              </a:rPr>
              <a:t>in </a:t>
            </a:r>
            <a:r>
              <a:rPr dirty="0" sz="2800" spc="45">
                <a:latin typeface="Times New Roman"/>
                <a:cs typeface="Times New Roman"/>
              </a:rPr>
              <a:t>SQLite.</a:t>
            </a:r>
            <a:endParaRPr sz="2800">
              <a:latin typeface="Times New Roman"/>
              <a:cs typeface="Times New Roman"/>
            </a:endParaRPr>
          </a:p>
          <a:p>
            <a:pPr marL="618490" marR="175895">
              <a:lnSpc>
                <a:spcPct val="116100"/>
              </a:lnSpc>
            </a:pPr>
            <a:r>
              <a:rPr dirty="0" sz="2800" spc="90">
                <a:latin typeface="Times New Roman"/>
                <a:cs typeface="Times New Roman"/>
              </a:rPr>
              <a:t>The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 spc="70">
                <a:latin typeface="Times New Roman"/>
                <a:cs typeface="Times New Roman"/>
              </a:rPr>
              <a:t>Streamlit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120">
                <a:latin typeface="Times New Roman"/>
                <a:cs typeface="Times New Roman"/>
              </a:rPr>
              <a:t>dashboard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retrieves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displays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65">
                <a:latin typeface="Times New Roman"/>
                <a:cs typeface="Times New Roman"/>
              </a:rPr>
              <a:t>the </a:t>
            </a:r>
            <a:r>
              <a:rPr dirty="0" sz="2800" spc="80">
                <a:latin typeface="Times New Roman"/>
                <a:cs typeface="Times New Roman"/>
              </a:rPr>
              <a:t>information.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55279" y="8447769"/>
            <a:ext cx="9587865" cy="1168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90"/>
              </a:spcBef>
            </a:pPr>
            <a:r>
              <a:rPr dirty="0" sz="3200" spc="-40" b="1">
                <a:latin typeface="Times New Roman"/>
                <a:cs typeface="Times New Roman"/>
              </a:rPr>
              <a:t>Demonstration </a:t>
            </a:r>
            <a:r>
              <a:rPr dirty="0" sz="3200" spc="-75" b="1">
                <a:latin typeface="Times New Roman"/>
                <a:cs typeface="Times New Roman"/>
              </a:rPr>
              <a:t>setup:</a:t>
            </a:r>
            <a:r>
              <a:rPr dirty="0" sz="3200" b="1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B01 uses physical </a:t>
            </a:r>
            <a:r>
              <a:rPr dirty="0" sz="3200" spc="80">
                <a:latin typeface="Times New Roman"/>
                <a:cs typeface="Times New Roman"/>
              </a:rPr>
              <a:t>hardware;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B02–</a:t>
            </a:r>
            <a:r>
              <a:rPr dirty="0" sz="3200">
                <a:latin typeface="Times New Roman"/>
                <a:cs typeface="Times New Roman"/>
              </a:rPr>
              <a:t>B04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70">
                <a:latin typeface="Times New Roman"/>
                <a:cs typeface="Times New Roman"/>
              </a:rPr>
              <a:t>simulated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 spc="40">
                <a:latin typeface="Times New Roman"/>
                <a:cs typeface="Times New Roman"/>
              </a:rPr>
              <a:t>readings.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653" y="0"/>
            <a:ext cx="2091347" cy="369227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6500" y="1377777"/>
            <a:ext cx="17442815" cy="2114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50" b="1">
                <a:solidFill>
                  <a:srgbClr val="003259"/>
                </a:solidFill>
                <a:latin typeface="Arial"/>
                <a:cs typeface="Arial"/>
              </a:rPr>
              <a:t>CONCLUSION</a:t>
            </a:r>
            <a:r>
              <a:rPr dirty="0" sz="8050" spc="-54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8050" spc="190" b="1">
                <a:solidFill>
                  <a:srgbClr val="003259"/>
                </a:solidFill>
                <a:latin typeface="Arial"/>
                <a:cs typeface="Arial"/>
              </a:rPr>
              <a:t>AND</a:t>
            </a:r>
            <a:r>
              <a:rPr dirty="0" sz="8050" spc="-54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8050" spc="-80" b="1">
                <a:solidFill>
                  <a:srgbClr val="003259"/>
                </a:solidFill>
                <a:latin typeface="Arial"/>
                <a:cs typeface="Arial"/>
              </a:rPr>
              <a:t>FUTURE</a:t>
            </a:r>
            <a:r>
              <a:rPr dirty="0" sz="8050" spc="-54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8050" spc="-80" b="1">
                <a:solidFill>
                  <a:srgbClr val="003259"/>
                </a:solidFill>
                <a:latin typeface="Arial"/>
                <a:cs typeface="Arial"/>
              </a:rPr>
              <a:t>SCOPE</a:t>
            </a:r>
            <a:endParaRPr sz="8050">
              <a:latin typeface="Arial"/>
              <a:cs typeface="Arial"/>
            </a:endParaRPr>
          </a:p>
          <a:p>
            <a:pPr marL="444500">
              <a:lnSpc>
                <a:spcPct val="100000"/>
              </a:lnSpc>
              <a:spcBef>
                <a:spcPts val="3279"/>
              </a:spcBef>
            </a:pPr>
            <a:r>
              <a:rPr dirty="0" sz="2900" spc="-10" b="1">
                <a:latin typeface="Times New Roman"/>
                <a:cs typeface="Times New Roman"/>
              </a:rPr>
              <a:t>Conclusion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0094389" y="488372"/>
            <a:ext cx="824230" cy="9836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 b="1">
                <a:latin typeface="Times New Roman"/>
                <a:cs typeface="Times New Roman"/>
              </a:rPr>
              <a:t>10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705" y="3793331"/>
            <a:ext cx="86377" cy="863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705" y="4829861"/>
            <a:ext cx="86377" cy="863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705" y="5866391"/>
            <a:ext cx="86377" cy="863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705" y="6902922"/>
            <a:ext cx="86377" cy="863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705" y="7939451"/>
            <a:ext cx="86377" cy="8637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52328" y="3466477"/>
            <a:ext cx="6946265" cy="5726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90"/>
              </a:spcBef>
            </a:pPr>
            <a:r>
              <a:rPr dirty="0" sz="2900" spc="170">
                <a:latin typeface="Times New Roman"/>
                <a:cs typeface="Times New Roman"/>
              </a:rPr>
              <a:t>DripGuard</a:t>
            </a:r>
            <a:r>
              <a:rPr dirty="0" sz="2900" spc="20">
                <a:latin typeface="Times New Roman"/>
                <a:cs typeface="Times New Roman"/>
              </a:rPr>
              <a:t> </a:t>
            </a:r>
            <a:r>
              <a:rPr dirty="0" sz="2900" spc="100">
                <a:latin typeface="Times New Roman"/>
                <a:cs typeface="Times New Roman"/>
              </a:rPr>
              <a:t>demonstrates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75">
                <a:latin typeface="Times New Roman"/>
                <a:cs typeface="Times New Roman"/>
              </a:rPr>
              <a:t>IV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155">
                <a:latin typeface="Times New Roman"/>
                <a:cs typeface="Times New Roman"/>
              </a:rPr>
              <a:t>drop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70">
                <a:latin typeface="Times New Roman"/>
                <a:cs typeface="Times New Roman"/>
              </a:rPr>
              <a:t>detection </a:t>
            </a:r>
            <a:r>
              <a:rPr dirty="0" sz="2900" spc="60">
                <a:latin typeface="Times New Roman"/>
                <a:cs typeface="Times New Roman"/>
              </a:rPr>
              <a:t>using</a:t>
            </a:r>
            <a:r>
              <a:rPr dirty="0" sz="2900" spc="10">
                <a:latin typeface="Times New Roman"/>
                <a:cs typeface="Times New Roman"/>
              </a:rPr>
              <a:t> </a:t>
            </a:r>
            <a:r>
              <a:rPr dirty="0" sz="2900" spc="160">
                <a:latin typeface="Times New Roman"/>
                <a:cs typeface="Times New Roman"/>
              </a:rPr>
              <a:t>an</a:t>
            </a:r>
            <a:r>
              <a:rPr dirty="0" sz="2900" spc="10">
                <a:latin typeface="Times New Roman"/>
                <a:cs typeface="Times New Roman"/>
              </a:rPr>
              <a:t> </a:t>
            </a:r>
            <a:r>
              <a:rPr dirty="0" sz="2900" spc="229">
                <a:latin typeface="Times New Roman"/>
                <a:cs typeface="Times New Roman"/>
              </a:rPr>
              <a:t>IR</a:t>
            </a:r>
            <a:r>
              <a:rPr dirty="0" sz="2900" spc="10">
                <a:latin typeface="Times New Roman"/>
                <a:cs typeface="Times New Roman"/>
              </a:rPr>
              <a:t> </a:t>
            </a:r>
            <a:r>
              <a:rPr dirty="0" sz="2900" spc="60">
                <a:latin typeface="Times New Roman"/>
                <a:cs typeface="Times New Roman"/>
              </a:rPr>
              <a:t>sensor.</a:t>
            </a:r>
            <a:endParaRPr sz="2900">
              <a:latin typeface="Times New Roman"/>
              <a:cs typeface="Times New Roman"/>
            </a:endParaRPr>
          </a:p>
          <a:p>
            <a:pPr marL="12700" marR="314325">
              <a:lnSpc>
                <a:spcPts val="4079"/>
              </a:lnSpc>
              <a:spcBef>
                <a:spcPts val="235"/>
              </a:spcBef>
            </a:pPr>
            <a:r>
              <a:rPr dirty="0" sz="2900" spc="100">
                <a:latin typeface="Times New Roman"/>
                <a:cs typeface="Times New Roman"/>
              </a:rPr>
              <a:t>The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195">
                <a:latin typeface="Times New Roman"/>
                <a:cs typeface="Times New Roman"/>
              </a:rPr>
              <a:t>NodeMCU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114">
                <a:latin typeface="Times New Roman"/>
                <a:cs typeface="Times New Roman"/>
              </a:rPr>
              <a:t>supports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55">
                <a:latin typeface="Times New Roman"/>
                <a:cs typeface="Times New Roman"/>
              </a:rPr>
              <a:t>local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45">
                <a:latin typeface="Times New Roman"/>
                <a:cs typeface="Times New Roman"/>
              </a:rPr>
              <a:t>processing </a:t>
            </a:r>
            <a:r>
              <a:rPr dirty="0" sz="2900" spc="155">
                <a:latin typeface="Times New Roman"/>
                <a:cs typeface="Times New Roman"/>
              </a:rPr>
              <a:t>and</a:t>
            </a:r>
            <a:r>
              <a:rPr dirty="0" sz="2900" spc="10">
                <a:latin typeface="Times New Roman"/>
                <a:cs typeface="Times New Roman"/>
              </a:rPr>
              <a:t> </a:t>
            </a:r>
            <a:r>
              <a:rPr dirty="0" sz="2900" spc="50">
                <a:latin typeface="Times New Roman"/>
                <a:cs typeface="Times New Roman"/>
              </a:rPr>
              <a:t>Wi-</a:t>
            </a:r>
            <a:r>
              <a:rPr dirty="0" sz="2900" spc="160">
                <a:latin typeface="Times New Roman"/>
                <a:cs typeface="Times New Roman"/>
              </a:rPr>
              <a:t>Fi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90">
                <a:latin typeface="Times New Roman"/>
                <a:cs typeface="Times New Roman"/>
              </a:rPr>
              <a:t>communication.</a:t>
            </a:r>
            <a:endParaRPr sz="2900">
              <a:latin typeface="Times New Roman"/>
              <a:cs typeface="Times New Roman"/>
            </a:endParaRPr>
          </a:p>
          <a:p>
            <a:pPr marL="12700" marR="1370330">
              <a:lnSpc>
                <a:spcPts val="4079"/>
              </a:lnSpc>
              <a:spcBef>
                <a:spcPts val="5"/>
              </a:spcBef>
            </a:pPr>
            <a:r>
              <a:rPr dirty="0" sz="2900" spc="125">
                <a:latin typeface="Times New Roman"/>
                <a:cs typeface="Times New Roman"/>
              </a:rPr>
              <a:t>Flask</a:t>
            </a:r>
            <a:r>
              <a:rPr dirty="0" sz="2900" spc="10">
                <a:latin typeface="Times New Roman"/>
                <a:cs typeface="Times New Roman"/>
              </a:rPr>
              <a:t> </a:t>
            </a:r>
            <a:r>
              <a:rPr dirty="0" sz="2900" spc="155">
                <a:latin typeface="Times New Roman"/>
                <a:cs typeface="Times New Roman"/>
              </a:rPr>
              <a:t>and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75">
                <a:latin typeface="Times New Roman"/>
                <a:cs typeface="Times New Roman"/>
              </a:rPr>
              <a:t>SQLite</a:t>
            </a:r>
            <a:r>
              <a:rPr dirty="0" sz="2900" spc="10">
                <a:latin typeface="Times New Roman"/>
                <a:cs typeface="Times New Roman"/>
              </a:rPr>
              <a:t> </a:t>
            </a:r>
            <a:r>
              <a:rPr dirty="0" sz="2900" spc="135">
                <a:latin typeface="Times New Roman"/>
                <a:cs typeface="Times New Roman"/>
              </a:rPr>
              <a:t>support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95">
                <a:latin typeface="Times New Roman"/>
                <a:cs typeface="Times New Roman"/>
              </a:rPr>
              <a:t>backend </a:t>
            </a:r>
            <a:r>
              <a:rPr dirty="0" sz="2900" spc="55">
                <a:latin typeface="Times New Roman"/>
                <a:cs typeface="Times New Roman"/>
              </a:rPr>
              <a:t>processing</a:t>
            </a:r>
            <a:r>
              <a:rPr dirty="0" sz="2900" spc="20">
                <a:latin typeface="Times New Roman"/>
                <a:cs typeface="Times New Roman"/>
              </a:rPr>
              <a:t> </a:t>
            </a:r>
            <a:r>
              <a:rPr dirty="0" sz="2900" spc="155">
                <a:latin typeface="Times New Roman"/>
                <a:cs typeface="Times New Roman"/>
              </a:rPr>
              <a:t>and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160">
                <a:latin typeface="Times New Roman"/>
                <a:cs typeface="Times New Roman"/>
              </a:rPr>
              <a:t>data</a:t>
            </a:r>
            <a:r>
              <a:rPr dirty="0" sz="2900" spc="20">
                <a:latin typeface="Times New Roman"/>
                <a:cs typeface="Times New Roman"/>
              </a:rPr>
              <a:t> </a:t>
            </a:r>
            <a:r>
              <a:rPr dirty="0" sz="2900" spc="75">
                <a:latin typeface="Times New Roman"/>
                <a:cs typeface="Times New Roman"/>
              </a:rPr>
              <a:t>storage.</a:t>
            </a:r>
            <a:endParaRPr sz="2900">
              <a:latin typeface="Times New Roman"/>
              <a:cs typeface="Times New Roman"/>
            </a:endParaRPr>
          </a:p>
          <a:p>
            <a:pPr marL="12700" marR="1394460">
              <a:lnSpc>
                <a:spcPts val="4079"/>
              </a:lnSpc>
            </a:pPr>
            <a:r>
              <a:rPr dirty="0" sz="2900" spc="85">
                <a:latin typeface="Times New Roman"/>
                <a:cs typeface="Times New Roman"/>
              </a:rPr>
              <a:t>Streamlit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75">
                <a:latin typeface="Times New Roman"/>
                <a:cs typeface="Times New Roman"/>
              </a:rPr>
              <a:t>provides</a:t>
            </a:r>
            <a:r>
              <a:rPr dirty="0" sz="2900" spc="20">
                <a:latin typeface="Times New Roman"/>
                <a:cs typeface="Times New Roman"/>
              </a:rPr>
              <a:t> </a:t>
            </a:r>
            <a:r>
              <a:rPr dirty="0" sz="2900" spc="165">
                <a:latin typeface="Times New Roman"/>
                <a:cs typeface="Times New Roman"/>
              </a:rPr>
              <a:t>a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135">
                <a:latin typeface="Times New Roman"/>
                <a:cs typeface="Times New Roman"/>
              </a:rPr>
              <a:t>dashboard</a:t>
            </a:r>
            <a:r>
              <a:rPr dirty="0" sz="2900" spc="20">
                <a:latin typeface="Times New Roman"/>
                <a:cs typeface="Times New Roman"/>
              </a:rPr>
              <a:t> </a:t>
            </a:r>
            <a:r>
              <a:rPr dirty="0" sz="2900" spc="80">
                <a:latin typeface="Times New Roman"/>
                <a:cs typeface="Times New Roman"/>
              </a:rPr>
              <a:t>for </a:t>
            </a:r>
            <a:r>
              <a:rPr dirty="0" sz="2900" spc="105">
                <a:latin typeface="Times New Roman"/>
                <a:cs typeface="Times New Roman"/>
              </a:rPr>
              <a:t>monitoring</a:t>
            </a:r>
            <a:r>
              <a:rPr dirty="0" sz="2900" spc="20">
                <a:latin typeface="Times New Roman"/>
                <a:cs typeface="Times New Roman"/>
              </a:rPr>
              <a:t> </a:t>
            </a:r>
            <a:r>
              <a:rPr dirty="0" sz="2900" spc="75">
                <a:latin typeface="Times New Roman"/>
                <a:cs typeface="Times New Roman"/>
              </a:rPr>
              <a:t>readings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155">
                <a:latin typeface="Times New Roman"/>
                <a:cs typeface="Times New Roman"/>
              </a:rPr>
              <a:t>and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60">
                <a:latin typeface="Times New Roman"/>
                <a:cs typeface="Times New Roman"/>
              </a:rPr>
              <a:t>alerts.</a:t>
            </a:r>
            <a:endParaRPr sz="2900">
              <a:latin typeface="Times New Roman"/>
              <a:cs typeface="Times New Roman"/>
            </a:endParaRPr>
          </a:p>
          <a:p>
            <a:pPr marL="12700" marR="415925">
              <a:lnSpc>
                <a:spcPts val="4079"/>
              </a:lnSpc>
            </a:pPr>
            <a:r>
              <a:rPr dirty="0" sz="2900" spc="80">
                <a:latin typeface="Times New Roman"/>
                <a:cs typeface="Times New Roman"/>
              </a:rPr>
              <a:t>Simulated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70">
                <a:latin typeface="Times New Roman"/>
                <a:cs typeface="Times New Roman"/>
              </a:rPr>
              <a:t>beds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110">
                <a:latin typeface="Times New Roman"/>
                <a:cs typeface="Times New Roman"/>
              </a:rPr>
              <a:t>demonstrate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100">
                <a:latin typeface="Times New Roman"/>
                <a:cs typeface="Times New Roman"/>
              </a:rPr>
              <a:t>how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75">
                <a:latin typeface="Times New Roman"/>
                <a:cs typeface="Times New Roman"/>
              </a:rPr>
              <a:t>the software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100">
                <a:latin typeface="Times New Roman"/>
                <a:cs typeface="Times New Roman"/>
              </a:rPr>
              <a:t>can</a:t>
            </a:r>
            <a:r>
              <a:rPr dirty="0" sz="2900" spc="20">
                <a:latin typeface="Times New Roman"/>
                <a:cs typeface="Times New Roman"/>
              </a:rPr>
              <a:t> </a:t>
            </a:r>
            <a:r>
              <a:rPr dirty="0" sz="2900" spc="65">
                <a:latin typeface="Times New Roman"/>
                <a:cs typeface="Times New Roman"/>
              </a:rPr>
              <a:t>display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70">
                <a:latin typeface="Times New Roman"/>
                <a:cs typeface="Times New Roman"/>
              </a:rPr>
              <a:t>multiple</a:t>
            </a:r>
            <a:r>
              <a:rPr dirty="0" sz="2900" spc="20">
                <a:latin typeface="Times New Roman"/>
                <a:cs typeface="Times New Roman"/>
              </a:rPr>
              <a:t> </a:t>
            </a:r>
            <a:r>
              <a:rPr dirty="0" sz="2900" spc="95">
                <a:latin typeface="Times New Roman"/>
                <a:cs typeface="Times New Roman"/>
              </a:rPr>
              <a:t>monitoring </a:t>
            </a:r>
            <a:r>
              <a:rPr dirty="0" sz="2900" spc="75">
                <a:latin typeface="Times New Roman"/>
                <a:cs typeface="Times New Roman"/>
              </a:rPr>
              <a:t>units.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5015" y="3282022"/>
            <a:ext cx="8550910" cy="25019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800" spc="-100" b="1">
                <a:latin typeface="Times New Roman"/>
                <a:cs typeface="Times New Roman"/>
              </a:rPr>
              <a:t>Future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scope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</a:pPr>
            <a:r>
              <a:rPr dirty="0" sz="2800" spc="90">
                <a:latin typeface="Times New Roman"/>
                <a:cs typeface="Times New Roman"/>
              </a:rPr>
              <a:t>Improve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sensor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65">
                <a:latin typeface="Times New Roman"/>
                <a:cs typeface="Times New Roman"/>
              </a:rPr>
              <a:t>accuracy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85">
                <a:latin typeface="Times New Roman"/>
                <a:cs typeface="Times New Roman"/>
              </a:rPr>
              <a:t>communication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reliability. </a:t>
            </a:r>
            <a:r>
              <a:rPr dirty="0" sz="2800" spc="130">
                <a:latin typeface="Times New Roman"/>
                <a:cs typeface="Times New Roman"/>
              </a:rPr>
              <a:t>Add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65">
                <a:latin typeface="Times New Roman"/>
                <a:cs typeface="Times New Roman"/>
              </a:rPr>
              <a:t> test </a:t>
            </a:r>
            <a:r>
              <a:rPr dirty="0" sz="2800" spc="95">
                <a:latin typeface="Times New Roman"/>
                <a:cs typeface="Times New Roman"/>
              </a:rPr>
              <a:t>more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physical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monitoring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units.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60">
                <a:latin typeface="Times New Roman"/>
                <a:cs typeface="Times New Roman"/>
              </a:rPr>
              <a:t>Refine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75">
                <a:latin typeface="Times New Roman"/>
                <a:cs typeface="Times New Roman"/>
              </a:rPr>
              <a:t>prediction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80">
                <a:latin typeface="Times New Roman"/>
                <a:cs typeface="Times New Roman"/>
              </a:rPr>
              <a:t>alert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logic.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85">
                <a:latin typeface="Times New Roman"/>
                <a:cs typeface="Times New Roman"/>
              </a:rPr>
              <a:t>Perform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extensive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50">
                <a:latin typeface="Times New Roman"/>
                <a:cs typeface="Times New Roman"/>
              </a:rPr>
              <a:t>technical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50">
                <a:latin typeface="Times New Roman"/>
                <a:cs typeface="Times New Roman"/>
              </a:rPr>
              <a:t>testing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65">
                <a:latin typeface="Times New Roman"/>
                <a:cs typeface="Times New Roman"/>
              </a:rPr>
              <a:t>validation.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95015" y="6253823"/>
            <a:ext cx="8330565" cy="25019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800" spc="-75" b="1">
                <a:latin typeface="Times New Roman"/>
                <a:cs typeface="Times New Roman"/>
              </a:rPr>
              <a:t>Important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limitation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</a:pPr>
            <a:r>
              <a:rPr dirty="0" sz="2800" spc="150">
                <a:latin typeface="Times New Roman"/>
                <a:cs typeface="Times New Roman"/>
              </a:rPr>
              <a:t>DripGuard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160">
                <a:latin typeface="Times New Roman"/>
                <a:cs typeface="Times New Roman"/>
              </a:rPr>
              <a:t>a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100">
                <a:latin typeface="Times New Roman"/>
                <a:cs typeface="Times New Roman"/>
              </a:rPr>
              <a:t>demonstration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105">
                <a:latin typeface="Times New Roman"/>
                <a:cs typeface="Times New Roman"/>
              </a:rPr>
              <a:t>prototype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95">
                <a:latin typeface="Times New Roman"/>
                <a:cs typeface="Times New Roman"/>
              </a:rPr>
              <a:t>must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114">
                <a:latin typeface="Times New Roman"/>
                <a:cs typeface="Times New Roman"/>
              </a:rPr>
              <a:t>not </a:t>
            </a:r>
            <a:r>
              <a:rPr dirty="0" sz="2800" spc="60">
                <a:latin typeface="Times New Roman"/>
                <a:cs typeface="Times New Roman"/>
              </a:rPr>
              <a:t>be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used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 spc="145">
                <a:latin typeface="Times New Roman"/>
                <a:cs typeface="Times New Roman"/>
              </a:rPr>
              <a:t>to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 spc="100">
                <a:latin typeface="Times New Roman"/>
                <a:cs typeface="Times New Roman"/>
              </a:rPr>
              <a:t>make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clinical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decisions.</a:t>
            </a:r>
            <a:endParaRPr sz="2800">
              <a:latin typeface="Times New Roman"/>
              <a:cs typeface="Times New Roman"/>
            </a:endParaRPr>
          </a:p>
          <a:p>
            <a:pPr marL="12700" marR="861060">
              <a:lnSpc>
                <a:spcPct val="116100"/>
              </a:lnSpc>
            </a:pPr>
            <a:r>
              <a:rPr dirty="0" sz="2800" spc="150">
                <a:latin typeface="Times New Roman"/>
                <a:cs typeface="Times New Roman"/>
              </a:rPr>
              <a:t>DripGuard</a:t>
            </a:r>
            <a:r>
              <a:rPr dirty="0" sz="2800">
                <a:latin typeface="Times New Roman"/>
                <a:cs typeface="Times New Roman"/>
              </a:rPr>
              <a:t> is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145">
                <a:latin typeface="Times New Roman"/>
                <a:cs typeface="Times New Roman"/>
              </a:rPr>
              <a:t>an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academic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105">
                <a:latin typeface="Times New Roman"/>
                <a:cs typeface="Times New Roman"/>
              </a:rPr>
              <a:t>prototype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 </a:t>
            </a:r>
            <a:r>
              <a:rPr dirty="0" sz="2800" spc="140">
                <a:latin typeface="Times New Roman"/>
                <a:cs typeface="Times New Roman"/>
              </a:rPr>
              <a:t>not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110">
                <a:latin typeface="Times New Roman"/>
                <a:cs typeface="Times New Roman"/>
              </a:rPr>
              <a:t>a </a:t>
            </a:r>
            <a:r>
              <a:rPr dirty="0" sz="2800">
                <a:latin typeface="Times New Roman"/>
                <a:cs typeface="Times New Roman"/>
              </a:rPr>
              <a:t>clinically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70">
                <a:latin typeface="Times New Roman"/>
                <a:cs typeface="Times New Roman"/>
              </a:rPr>
              <a:t>validated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45">
                <a:latin typeface="Times New Roman"/>
                <a:cs typeface="Times New Roman"/>
              </a:rPr>
              <a:t>medical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device.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094297" y="488372"/>
            <a:ext cx="824230" cy="983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250" spc="-25" b="1">
                <a:latin typeface="Times New Roman"/>
                <a:cs typeface="Times New Roman"/>
              </a:rPr>
              <a:t>10</a:t>
            </a:r>
            <a:endParaRPr sz="625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10992" y="0"/>
            <a:ext cx="5577008" cy="1028662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09650"/>
            <a:ext cx="9762490" cy="0"/>
          </a:xfrm>
          <a:custGeom>
            <a:avLst/>
            <a:gdLst/>
            <a:ahLst/>
            <a:cxnLst/>
            <a:rect l="l" t="t" r="r" b="b"/>
            <a:pathLst>
              <a:path w="9762490" h="0">
                <a:moveTo>
                  <a:pt x="0" y="0"/>
                </a:moveTo>
                <a:lnTo>
                  <a:pt x="97621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102949" y="4039046"/>
            <a:ext cx="8082280" cy="16300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0" spc="330" b="1">
                <a:solidFill>
                  <a:srgbClr val="003259"/>
                </a:solidFill>
                <a:latin typeface="Arial"/>
                <a:cs typeface="Arial"/>
              </a:rPr>
              <a:t>THANK</a:t>
            </a:r>
            <a:r>
              <a:rPr dirty="0" sz="10500" spc="-815" b="1">
                <a:solidFill>
                  <a:srgbClr val="003259"/>
                </a:solidFill>
                <a:latin typeface="Arial"/>
                <a:cs typeface="Arial"/>
              </a:rPr>
              <a:t> </a:t>
            </a:r>
            <a:r>
              <a:rPr dirty="0" sz="10500" spc="-430" b="1">
                <a:solidFill>
                  <a:srgbClr val="003259"/>
                </a:solidFill>
                <a:latin typeface="Arial"/>
                <a:cs typeface="Arial"/>
              </a:rPr>
              <a:t>Y</a:t>
            </a:r>
            <a:r>
              <a:rPr dirty="0" sz="10500" spc="170" b="1">
                <a:solidFill>
                  <a:srgbClr val="003259"/>
                </a:solidFill>
                <a:latin typeface="Arial"/>
                <a:cs typeface="Arial"/>
              </a:rPr>
              <a:t>O</a:t>
            </a:r>
            <a:r>
              <a:rPr dirty="0" sz="10500" spc="175" b="1">
                <a:solidFill>
                  <a:srgbClr val="003259"/>
                </a:solidFill>
                <a:latin typeface="Arial"/>
                <a:cs typeface="Arial"/>
              </a:rPr>
              <a:t>U</a:t>
            </a:r>
            <a:endParaRPr sz="10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" y="6748877"/>
            <a:ext cx="6607158" cy="35381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Swati Mahto</dc:creator>
  <cp:keywords>DAHYy6oi1zs,BAG1IP4_fsA</cp:keywords>
  <dc:title>Dripguard project </dc:title>
  <dcterms:created xsi:type="dcterms:W3CDTF">2026-10-23T18:15:02Z</dcterms:created>
  <dcterms:modified xsi:type="dcterms:W3CDTF">2026-10-23T18:15:02Z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2026-10-23T00:00:00Z</vt:filetime>
  </property>
  <property fmtid="{D5CDD505-2E9C-101B-9397-08002B2CF9AE}" pid="4" name="Creator">
    <vt:lpwstr>Canva</vt:lpwstr>
  </property>
  <property fmtid="{D5CDD505-2E9C-101B-9397-08002B2CF9AE}" pid="5" name="LastSaved">
    <vt:filetime>2026-10-23T00:00:00Z</vt:filetime>
  </property>
  <property fmtid="{D5CDD505-2E9C-101B-9397-08002B2CF9AE}" pid="6" name="Producer">
    <vt:lpwstr>Canva</vt:lpwstr>
  </property>
</Properties>
</file>